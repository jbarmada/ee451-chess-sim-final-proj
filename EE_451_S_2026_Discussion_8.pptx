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8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302" r:id="rId29"/>
    <p:sldId id="303" r:id="rId30"/>
    <p:sldId id="304" r:id="rId31"/>
    <p:sldId id="257" r:id="rId32"/>
    <p:sldId id="283" r:id="rId33"/>
    <p:sldId id="284" r:id="rId34"/>
    <p:sldId id="285" r:id="rId35"/>
    <p:sldId id="286" r:id="rId36"/>
    <p:sldId id="287" r:id="rId37"/>
    <p:sldId id="289" r:id="rId38"/>
    <p:sldId id="290" r:id="rId39"/>
    <p:sldId id="292" r:id="rId40"/>
    <p:sldId id="293" r:id="rId41"/>
    <p:sldId id="291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280" r:id="rId50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78472D4B-BD3B-4655-A781-AE2BE4205292}">
          <p14:sldIdLst>
            <p14:sldId id="256"/>
            <p14:sldId id="281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302"/>
            <p14:sldId id="303"/>
            <p14:sldId id="304"/>
            <p14:sldId id="257"/>
            <p14:sldId id="283"/>
            <p14:sldId id="284"/>
            <p14:sldId id="285"/>
            <p14:sldId id="286"/>
            <p14:sldId id="287"/>
            <p14:sldId id="289"/>
            <p14:sldId id="290"/>
            <p14:sldId id="292"/>
            <p14:sldId id="293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Untitled Section" id="{209CD29A-063A-469E-87B4-302E4EDF2232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20945" y="2074163"/>
            <a:ext cx="238315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5623" y="189541"/>
            <a:ext cx="549469" cy="70739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3041" y="6298386"/>
            <a:ext cx="2197247" cy="4669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20543" y="332740"/>
            <a:ext cx="7550912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975" y="1162240"/>
            <a:ext cx="10642600" cy="3392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cedirect.com/science/article/pii/S002199918571039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ppa.univ-lille3.fr/~mary/cours/stats/centrale/reco/paper/MatrixFactorizationALS.pdf" TargetMode="External"/><Relationship Id="rId2" Type="http://schemas.openxmlformats.org/officeDocument/2006/relationships/hyperlink" Target="http://ieeexplore.ieee.org/abstract/document/1565742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5.png"/><Relationship Id="rId7" Type="http://schemas.openxmlformats.org/officeDocument/2006/relationships/hyperlink" Target="http://www.riallto.ai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iallto.ai/3_4_Edge_detect_example.html" TargetMode="External"/><Relationship Id="rId5" Type="http://schemas.openxmlformats.org/officeDocument/2006/relationships/hyperlink" Target="https://riallto.ai/3_2_Ryzenai_capabilities.html" TargetMode="External"/><Relationship Id="rId4" Type="http://schemas.openxmlformats.org/officeDocument/2006/relationships/hyperlink" Target="https://www.amd.com/en/products/processors/consumer/ryzen-ai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docs.cerebras.net/en/latest/wsc/cerebras-basics/how-cerebras-work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developer/topic-technology/ai-pc/overview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jm.com/markets-and-operations/ops-analysis" TargetMode="External"/><Relationship Id="rId2" Type="http://schemas.openxmlformats.org/officeDocument/2006/relationships/hyperlink" Target="http://snap.stanford.edu/data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cmu.edu/afs/cs/academic/class/15418-f24/www/projects.html" TargetMode="External"/><Relationship Id="rId4" Type="http://schemas.openxmlformats.org/officeDocument/2006/relationships/hyperlink" Target="https://en.wikipedia.org/wiki/List_of_datasets_for_machine_learning_research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4020" y="2137663"/>
            <a:ext cx="6292215" cy="10045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802640">
              <a:lnSpc>
                <a:spcPct val="100000"/>
              </a:lnSpc>
              <a:spcBef>
                <a:spcPts val="130"/>
              </a:spcBef>
            </a:pPr>
            <a:r>
              <a:rPr sz="3200" b="1">
                <a:latin typeface="Calibri"/>
                <a:cs typeface="Calibri"/>
              </a:rPr>
              <a:t>EE/CSCI</a:t>
            </a:r>
            <a:r>
              <a:rPr sz="3200" b="1" spc="-110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451</a:t>
            </a:r>
            <a:r>
              <a:rPr sz="3200" b="1" spc="-125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Introduction</a:t>
            </a:r>
            <a:r>
              <a:rPr sz="3200" b="1" spc="-85">
                <a:latin typeface="Calibri"/>
                <a:cs typeface="Calibri"/>
              </a:rPr>
              <a:t> </a:t>
            </a:r>
            <a:r>
              <a:rPr sz="3200" b="1" spc="-25">
                <a:latin typeface="Calibri"/>
                <a:cs typeface="Calibri"/>
              </a:rPr>
              <a:t>to </a:t>
            </a:r>
            <a:r>
              <a:rPr sz="3200" b="1" spc="-10">
                <a:latin typeface="Calibri"/>
                <a:cs typeface="Calibri"/>
              </a:rPr>
              <a:t>Parallel</a:t>
            </a:r>
            <a:r>
              <a:rPr sz="3200" b="1" spc="-50">
                <a:latin typeface="Calibri"/>
                <a:cs typeface="Calibri"/>
              </a:rPr>
              <a:t> </a:t>
            </a:r>
            <a:r>
              <a:rPr sz="3200" b="1">
                <a:latin typeface="Calibri"/>
                <a:cs typeface="Calibri"/>
              </a:rPr>
              <a:t>and</a:t>
            </a:r>
            <a:r>
              <a:rPr sz="3200" b="1" spc="-95">
                <a:latin typeface="Calibri"/>
                <a:cs typeface="Calibri"/>
              </a:rPr>
              <a:t> </a:t>
            </a:r>
            <a:r>
              <a:rPr sz="3200" b="1" spc="-10">
                <a:latin typeface="Calibri"/>
                <a:cs typeface="Calibri"/>
              </a:rPr>
              <a:t>Distributed</a:t>
            </a:r>
            <a:r>
              <a:rPr sz="3200" b="1" spc="-85">
                <a:latin typeface="Calibri"/>
                <a:cs typeface="Calibri"/>
              </a:rPr>
              <a:t> </a:t>
            </a:r>
            <a:r>
              <a:rPr sz="3200" b="1" spc="-10">
                <a:latin typeface="Calibri"/>
                <a:cs typeface="Calibri"/>
              </a:rPr>
              <a:t>Computation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0509" y="3508565"/>
            <a:ext cx="405511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marR="1189355" algn="ctr">
              <a:lnSpc>
                <a:spcPct val="12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Discussion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#</a:t>
            </a:r>
            <a:r>
              <a:rPr lang="en-US" sz="2400" spc="-25">
                <a:latin typeface="Calibri"/>
                <a:cs typeface="Calibri"/>
              </a:rPr>
              <a:t>8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lang="en-US" sz="2400" spc="-10">
                <a:latin typeface="Calibri"/>
                <a:cs typeface="Calibri"/>
              </a:rPr>
              <a:t>3</a:t>
            </a:r>
            <a:r>
              <a:rPr sz="2400" spc="-10">
                <a:latin typeface="Calibri"/>
                <a:cs typeface="Calibri"/>
              </a:rPr>
              <a:t>/</a:t>
            </a:r>
            <a:r>
              <a:rPr lang="en-US" sz="2400" spc="-10">
                <a:latin typeface="Calibri"/>
                <a:cs typeface="Calibri"/>
              </a:rPr>
              <a:t>6</a:t>
            </a:r>
            <a:r>
              <a:rPr sz="2400" spc="-10">
                <a:latin typeface="Calibri"/>
                <a:cs typeface="Calibri"/>
              </a:rPr>
              <a:t>/202</a:t>
            </a:r>
            <a:r>
              <a:rPr lang="en-US" sz="2400" spc="-1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Calibri"/>
                <a:cs typeface="Calibri"/>
              </a:rPr>
              <a:t>University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Southern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California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0437F-6E66-CB4D-B131-03F26B86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1FB4C7-1314-74A2-1B7E-65E50D2A9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rPr lang="en-US"/>
              <a:t>Announcements</a:t>
            </a:r>
            <a:endParaRPr spc="-25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4E40C9-9FDF-0535-0233-2C691D93BABD}"/>
              </a:ext>
            </a:extLst>
          </p:cNvPr>
          <p:cNvSpPr txBox="1"/>
          <p:nvPr/>
        </p:nvSpPr>
        <p:spPr>
          <a:xfrm>
            <a:off x="688975" y="1162240"/>
            <a:ext cx="10475595" cy="402610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0525" lvl="1">
              <a:spcBef>
                <a:spcPts val="575"/>
              </a:spcBef>
              <a:buSzPct val="95833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•Project is announced today</a:t>
            </a:r>
          </a:p>
          <a:p>
            <a:pPr marL="733425" lvl="1" indent="-342900">
              <a:lnSpc>
                <a:spcPct val="100000"/>
              </a:lnSpc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Proposal due Wednesday, 3/11 at 11:59PM on Brightspace</a:t>
            </a:r>
          </a:p>
          <a:p>
            <a:pPr marL="733425" lvl="1" indent="-342900">
              <a:lnSpc>
                <a:spcPct val="100000"/>
              </a:lnSpc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Start forming teams NOW!</a:t>
            </a:r>
          </a:p>
          <a:p>
            <a:pPr marL="390525" lvl="1">
              <a:spcBef>
                <a:spcPts val="575"/>
              </a:spcBef>
              <a:buSzPct val="95833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•Midterm I Review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Sample Exam &amp; Solutions on Piazza +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Homework 2 Solutions on Piazza +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HW 3 due 3/6 at 11:59PM on Brightspace (solutions posted on Monday)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r>
              <a:rPr lang="en-US" sz="2400">
                <a:latin typeface="Calibri"/>
                <a:cs typeface="Calibri"/>
              </a:rPr>
              <a:t>PHW 4 due 3/9 at 11:59PM on Brightspace</a:t>
            </a:r>
          </a:p>
          <a:p>
            <a:pPr marL="733425" lvl="1" indent="-342900">
              <a:spcBef>
                <a:spcPts val="575"/>
              </a:spcBef>
              <a:buSzPct val="95833"/>
              <a:buFontTx/>
              <a:buChar char="-"/>
              <a:tabLst>
                <a:tab pos="504825" algn="l"/>
              </a:tabLst>
            </a:pPr>
            <a:endParaRPr lang="en-US"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389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475595" cy="30694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3510" marR="9436735" indent="-143510" algn="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43510" algn="l"/>
              </a:tabLst>
            </a:pP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R="9439275" algn="r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Ideas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Research,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10">
                <a:latin typeface="Calibri"/>
                <a:cs typeface="Calibri"/>
              </a:rPr>
              <a:t> Evaluate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Implement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Complete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Should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not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something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trivial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e.g.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shortest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path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all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pair </a:t>
            </a:r>
            <a:r>
              <a:rPr sz="2400" spc="-10">
                <a:latin typeface="Calibri"/>
                <a:cs typeface="Calibri"/>
              </a:rPr>
              <a:t>shortest</a:t>
            </a:r>
            <a:endParaRPr sz="24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path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not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good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idea.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pc="-10"/>
              <a:t>Research,</a:t>
            </a:r>
            <a:r>
              <a:rPr spc="-65"/>
              <a:t> </a:t>
            </a:r>
            <a:r>
              <a:rPr spc="-10"/>
              <a:t>Implement,</a:t>
            </a:r>
            <a:r>
              <a:rPr spc="-65"/>
              <a:t> </a:t>
            </a:r>
            <a:r>
              <a:rPr spc="-10"/>
              <a:t>Evaluate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Propose</a:t>
            </a:r>
            <a:r>
              <a:rPr spc="-95"/>
              <a:t> </a:t>
            </a:r>
            <a:r>
              <a:t>a</a:t>
            </a:r>
            <a:r>
              <a:rPr spc="-65"/>
              <a:t> </a:t>
            </a:r>
            <a:r>
              <a:t>new</a:t>
            </a:r>
            <a:r>
              <a:rPr spc="-90"/>
              <a:t> </a:t>
            </a:r>
            <a:r>
              <a:rPr spc="-10"/>
              <a:t>parallelization</a:t>
            </a:r>
            <a:r>
              <a:rPr spc="-90"/>
              <a:t> </a:t>
            </a:r>
            <a:r>
              <a:t>technique</a:t>
            </a:r>
            <a:r>
              <a:rPr spc="-35"/>
              <a:t> </a:t>
            </a:r>
            <a:r>
              <a:t>for</a:t>
            </a:r>
            <a:r>
              <a:rPr spc="-45"/>
              <a:t> </a:t>
            </a:r>
            <a:r>
              <a:t>an</a:t>
            </a:r>
            <a:r>
              <a:rPr spc="-90"/>
              <a:t> </a:t>
            </a:r>
            <a:r>
              <a:t>existing</a:t>
            </a:r>
            <a:r>
              <a:rPr spc="-105"/>
              <a:t> </a:t>
            </a:r>
            <a:r>
              <a:rPr spc="-10"/>
              <a:t>algorithm.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Implement</a:t>
            </a:r>
            <a:r>
              <a:rPr spc="-45"/>
              <a:t> </a:t>
            </a:r>
            <a:r>
              <a:t>the</a:t>
            </a:r>
            <a:r>
              <a:rPr spc="-50"/>
              <a:t> </a:t>
            </a:r>
            <a:r>
              <a:rPr spc="-10"/>
              <a:t>parallelization</a:t>
            </a:r>
            <a:r>
              <a:rPr spc="-50"/>
              <a:t> </a:t>
            </a:r>
            <a:r>
              <a:rPr spc="-10"/>
              <a:t>technique</a:t>
            </a:r>
            <a:r>
              <a:rPr spc="-55"/>
              <a:t> </a:t>
            </a:r>
            <a:r>
              <a:t>using</a:t>
            </a:r>
            <a:r>
              <a:rPr spc="-65"/>
              <a:t> </a:t>
            </a:r>
            <a:r>
              <a:t>a</a:t>
            </a:r>
            <a:r>
              <a:rPr spc="-80"/>
              <a:t> </a:t>
            </a:r>
            <a:r>
              <a:rPr spc="-10"/>
              <a:t>programming</a:t>
            </a:r>
            <a:r>
              <a:rPr spc="-65"/>
              <a:t> </a:t>
            </a:r>
            <a:r>
              <a:rPr spc="-10"/>
              <a:t>platform</a:t>
            </a:r>
          </a:p>
          <a:p>
            <a:pPr marL="205740">
              <a:lnSpc>
                <a:spcPct val="100000"/>
              </a:lnSpc>
              <a:spcBef>
                <a:spcPts val="570"/>
              </a:spcBef>
            </a:pPr>
            <a:r>
              <a:rPr>
                <a:latin typeface="Arial"/>
                <a:cs typeface="Arial"/>
              </a:rPr>
              <a:t>–</a:t>
            </a:r>
            <a:r>
              <a:rPr spc="-20"/>
              <a:t>Evaluate</a:t>
            </a:r>
            <a:r>
              <a:rPr spc="-80"/>
              <a:t> </a:t>
            </a:r>
            <a:r>
              <a:t>the</a:t>
            </a:r>
            <a:r>
              <a:rPr spc="-20"/>
              <a:t> </a:t>
            </a:r>
            <a:r>
              <a:rPr spc="-10"/>
              <a:t>performance</a:t>
            </a:r>
            <a:r>
              <a:rPr spc="-80"/>
              <a:t> </a:t>
            </a:r>
            <a:r>
              <a:t>of</a:t>
            </a:r>
            <a:r>
              <a:rPr spc="-70"/>
              <a:t> </a:t>
            </a:r>
            <a:r>
              <a:t>the</a:t>
            </a:r>
            <a:r>
              <a:rPr spc="-20"/>
              <a:t> </a:t>
            </a:r>
            <a:r>
              <a:t>parallel</a:t>
            </a:r>
            <a:r>
              <a:rPr spc="-45"/>
              <a:t> </a:t>
            </a:r>
            <a:r>
              <a:t>algorithm</a:t>
            </a:r>
            <a:r>
              <a:rPr spc="-60"/>
              <a:t> </a:t>
            </a:r>
            <a:r>
              <a:t>by</a:t>
            </a:r>
            <a:r>
              <a:rPr spc="-55"/>
              <a:t> </a:t>
            </a:r>
            <a:r>
              <a:t>comparing</a:t>
            </a:r>
            <a:r>
              <a:rPr spc="-90"/>
              <a:t> </a:t>
            </a:r>
            <a:r>
              <a:t>against</a:t>
            </a:r>
            <a:r>
              <a:rPr spc="-70"/>
              <a:t> </a:t>
            </a:r>
            <a:r>
              <a:rPr spc="-25"/>
              <a:t>the</a:t>
            </a:r>
          </a:p>
          <a:p>
            <a:pPr marL="326390">
              <a:lnSpc>
                <a:spcPct val="100000"/>
              </a:lnSpc>
              <a:spcBef>
                <a:spcPts val="50"/>
              </a:spcBef>
            </a:pPr>
            <a:r>
              <a:t>existing</a:t>
            </a:r>
            <a:r>
              <a:rPr spc="-90"/>
              <a:t> </a:t>
            </a:r>
            <a:r>
              <a:t>serial</a:t>
            </a:r>
            <a:r>
              <a:rPr spc="-45"/>
              <a:t> </a:t>
            </a:r>
            <a:r>
              <a:rPr spc="-10"/>
              <a:t>baseline</a:t>
            </a:r>
          </a:p>
          <a:p>
            <a:pPr marL="326390" marR="5080" indent="-120650">
              <a:lnSpc>
                <a:spcPts val="2860"/>
              </a:lnSpc>
              <a:spcBef>
                <a:spcPts val="690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rPr spc="-10"/>
              <a:t>(Before submitting</a:t>
            </a:r>
            <a:r>
              <a:rPr spc="-85"/>
              <a:t> </a:t>
            </a:r>
            <a:r>
              <a:t>the</a:t>
            </a:r>
            <a:r>
              <a:rPr spc="-10"/>
              <a:t> proposal,</a:t>
            </a:r>
            <a:r>
              <a:rPr spc="-75"/>
              <a:t> </a:t>
            </a:r>
            <a:r>
              <a:t>you</a:t>
            </a:r>
            <a:r>
              <a:rPr spc="-65"/>
              <a:t> </a:t>
            </a:r>
            <a:r>
              <a:t>should</a:t>
            </a:r>
            <a:r>
              <a:rPr spc="-70"/>
              <a:t> </a:t>
            </a:r>
            <a:r>
              <a:t>have</a:t>
            </a:r>
            <a:r>
              <a:rPr spc="-70"/>
              <a:t> </a:t>
            </a:r>
            <a:r>
              <a:t>a</a:t>
            </a:r>
            <a:r>
              <a:rPr spc="-40"/>
              <a:t> </a:t>
            </a:r>
            <a:r>
              <a:t>rough</a:t>
            </a:r>
            <a:r>
              <a:rPr spc="-70"/>
              <a:t> </a:t>
            </a:r>
            <a:r>
              <a:t>idea</a:t>
            </a:r>
            <a:r>
              <a:rPr spc="-35"/>
              <a:t> </a:t>
            </a:r>
            <a:r>
              <a:t>of</a:t>
            </a:r>
            <a:r>
              <a:rPr spc="-60"/>
              <a:t> </a:t>
            </a:r>
            <a:r>
              <a:t>how</a:t>
            </a:r>
            <a:r>
              <a:rPr spc="-75"/>
              <a:t> </a:t>
            </a:r>
            <a:r>
              <a:t>to</a:t>
            </a:r>
            <a:r>
              <a:rPr spc="-65"/>
              <a:t> </a:t>
            </a:r>
            <a:r>
              <a:rPr spc="-10"/>
              <a:t>parallelize </a:t>
            </a:r>
            <a:r>
              <a:t>the</a:t>
            </a:r>
            <a:r>
              <a:rPr spc="-75"/>
              <a:t> </a:t>
            </a:r>
            <a:r>
              <a:t>problem</a:t>
            </a:r>
            <a:r>
              <a:rPr spc="-45"/>
              <a:t> </a:t>
            </a:r>
            <a:r>
              <a:t>you</a:t>
            </a:r>
            <a:r>
              <a:rPr spc="-70"/>
              <a:t> </a:t>
            </a:r>
            <a:r>
              <a:t>have</a:t>
            </a:r>
            <a:r>
              <a:rPr spc="-70"/>
              <a:t> </a:t>
            </a:r>
            <a:r>
              <a:rPr spc="-10"/>
              <a:t>chosen)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808335" cy="3707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Implement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Implement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2-</a:t>
            </a:r>
            <a:r>
              <a:rPr sz="2400">
                <a:latin typeface="Calibri"/>
                <a:cs typeface="Calibri"/>
              </a:rPr>
              <a:t>3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already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existing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b="1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  <a:p>
            <a:pPr marL="560070" lvl="1" indent="-16129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560070" algn="l"/>
              </a:tabLst>
            </a:pPr>
            <a:r>
              <a:rPr sz="2250" b="1" spc="-10">
                <a:latin typeface="Calibri"/>
                <a:cs typeface="Calibri"/>
              </a:rPr>
              <a:t>For</a:t>
            </a:r>
            <a:r>
              <a:rPr sz="2250" b="1" spc="-12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example,</a:t>
            </a:r>
            <a:r>
              <a:rPr sz="2250" b="1" spc="-75">
                <a:latin typeface="Calibri"/>
                <a:cs typeface="Calibri"/>
              </a:rPr>
              <a:t> </a:t>
            </a:r>
            <a:r>
              <a:rPr sz="2250" b="1" spc="-25">
                <a:latin typeface="Calibri"/>
                <a:cs typeface="Calibri"/>
              </a:rPr>
              <a:t>different</a:t>
            </a:r>
            <a:r>
              <a:rPr sz="2250" b="1" spc="-95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ways</a:t>
            </a:r>
            <a:r>
              <a:rPr sz="2250" b="1" spc="-65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of</a:t>
            </a:r>
            <a:r>
              <a:rPr sz="2250" b="1" spc="-100">
                <a:latin typeface="Calibri"/>
                <a:cs typeface="Calibri"/>
              </a:rPr>
              <a:t> </a:t>
            </a:r>
            <a:r>
              <a:rPr sz="2250" b="1">
                <a:latin typeface="Calibri"/>
                <a:cs typeface="Calibri"/>
              </a:rPr>
              <a:t>doing</a:t>
            </a:r>
            <a:r>
              <a:rPr sz="2250" b="1" spc="-8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matrix</a:t>
            </a:r>
            <a:r>
              <a:rPr sz="2250" b="1" spc="-5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multiplication.</a:t>
            </a:r>
            <a:r>
              <a:rPr sz="2250" b="1" spc="-70">
                <a:latin typeface="Calibri"/>
                <a:cs typeface="Calibri"/>
              </a:rPr>
              <a:t> </a:t>
            </a:r>
            <a:r>
              <a:rPr sz="2250" b="1" spc="-35">
                <a:latin typeface="Calibri"/>
                <a:cs typeface="Calibri"/>
              </a:rPr>
              <a:t>NOT</a:t>
            </a:r>
            <a:r>
              <a:rPr sz="2250" b="1" spc="-9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DIFFERENT</a:t>
            </a:r>
            <a:r>
              <a:rPr sz="2250" b="1" spc="-120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LIBRARIES</a:t>
            </a:r>
            <a:endParaRPr sz="225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5"/>
              </a:spcBef>
            </a:pPr>
            <a:r>
              <a:rPr sz="2250" b="1" spc="-10">
                <a:latin typeface="Calibri"/>
                <a:cs typeface="Calibri"/>
              </a:rPr>
              <a:t>(Pthreads,</a:t>
            </a:r>
            <a:r>
              <a:rPr sz="2250" b="1" spc="-105">
                <a:latin typeface="Calibri"/>
                <a:cs typeface="Calibri"/>
              </a:rPr>
              <a:t> </a:t>
            </a:r>
            <a:r>
              <a:rPr sz="2250" b="1" spc="-10">
                <a:latin typeface="Calibri"/>
                <a:cs typeface="Calibri"/>
              </a:rPr>
              <a:t>OpenMP)</a:t>
            </a:r>
            <a:endParaRPr sz="225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0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various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benchmarks/datasets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Benchmark/dataset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selection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important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L="326390" marR="5080" indent="-120650">
              <a:lnSpc>
                <a:spcPct val="100400"/>
              </a:lnSpc>
              <a:spcBef>
                <a:spcPts val="56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(Before submitting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idea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what</a:t>
            </a:r>
            <a:r>
              <a:rPr sz="2400" spc="-1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kind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</a:t>
            </a:r>
            <a:r>
              <a:rPr sz="2400" spc="-10">
                <a:latin typeface="Calibri"/>
                <a:cs typeface="Calibri"/>
              </a:rPr>
              <a:t>Benchmark/datasets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looking</a:t>
            </a:r>
            <a:r>
              <a:rPr sz="2400" spc="25">
                <a:latin typeface="Calibri"/>
                <a:cs typeface="Calibri"/>
              </a:rPr>
              <a:t> </a:t>
            </a:r>
            <a:r>
              <a:rPr sz="2400" spc="-60">
                <a:latin typeface="Calibri"/>
                <a:cs typeface="Calibri"/>
              </a:rPr>
              <a:t>for.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This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shows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have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understood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480040" cy="3030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Complete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Implement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end-</a:t>
            </a:r>
            <a:r>
              <a:rPr sz="2400" spc="-20">
                <a:latin typeface="Calibri"/>
                <a:cs typeface="Calibri"/>
              </a:rPr>
              <a:t>to-</a:t>
            </a:r>
            <a:r>
              <a:rPr sz="2400">
                <a:latin typeface="Calibri"/>
                <a:cs typeface="Calibri"/>
              </a:rPr>
              <a:t>end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have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core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have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supporting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preprocessing/postprocessing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Evaluation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criteria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needs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proposed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based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25">
                <a:latin typeface="Calibri"/>
                <a:cs typeface="Calibri"/>
              </a:rPr>
              <a:t>(You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can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include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figure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showing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end-</a:t>
            </a:r>
            <a:r>
              <a:rPr sz="2400" spc="-20">
                <a:latin typeface="Calibri"/>
                <a:cs typeface="Calibri"/>
              </a:rPr>
              <a:t>to-</a:t>
            </a:r>
            <a:r>
              <a:rPr sz="2400">
                <a:latin typeface="Calibri"/>
                <a:cs typeface="Calibri"/>
              </a:rPr>
              <a:t>end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application.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Also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include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outline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regarding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how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project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evaluated)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8534400" cy="5300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Template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Introduction: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Background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Contributions/hypotheses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>
                <a:latin typeface="Calibri"/>
                <a:cs typeface="Calibri"/>
              </a:rPr>
              <a:t>Description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20">
                <a:latin typeface="Calibri"/>
                <a:cs typeface="Calibri"/>
              </a:rPr>
              <a:t>Parallelization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techniques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proposing</a:t>
            </a:r>
            <a:r>
              <a:rPr sz="2400" spc="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new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Selection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criteria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benchmarks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650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>
                <a:latin typeface="Calibri"/>
                <a:cs typeface="Calibri"/>
              </a:rPr>
              <a:t>Description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application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developing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</a:tabLst>
            </a:pP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platform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20">
                <a:latin typeface="Calibri"/>
                <a:cs typeface="Calibri"/>
              </a:rPr>
              <a:t>Evaluation/Criteria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Success</a:t>
            </a:r>
            <a:endParaRPr sz="2400">
              <a:latin typeface="Calibri"/>
              <a:cs typeface="Calibri"/>
            </a:endParaRPr>
          </a:p>
          <a:p>
            <a:pPr marL="5048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04825" algn="l"/>
                <a:tab pos="3388995" algn="l"/>
              </a:tabLst>
            </a:pPr>
            <a:r>
              <a:rPr sz="2400">
                <a:latin typeface="Calibri"/>
                <a:cs typeface="Calibri"/>
              </a:rPr>
              <a:t>Mention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any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datasets,</a:t>
            </a:r>
            <a:r>
              <a:rPr sz="2400">
                <a:latin typeface="Calibri"/>
                <a:cs typeface="Calibri"/>
              </a:rPr>
              <a:t>	</a:t>
            </a:r>
            <a:r>
              <a:rPr sz="2400" spc="-10">
                <a:latin typeface="Calibri"/>
                <a:cs typeface="Calibri"/>
              </a:rPr>
              <a:t>evaluation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metrics,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using.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We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will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proposals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give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feedback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Research,</a:t>
            </a:r>
            <a:r>
              <a:rPr spc="-150"/>
              <a:t> </a:t>
            </a:r>
            <a:r>
              <a:t>Implement,</a:t>
            </a:r>
            <a:r>
              <a:rPr spc="-85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225486"/>
            <a:ext cx="10729595" cy="36023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1200"/>
              </a:lnSpc>
              <a:spcBef>
                <a:spcPts val="90"/>
              </a:spcBef>
              <a:buFont typeface="Arial"/>
              <a:buChar char="•"/>
              <a:tabLst>
                <a:tab pos="355600" algn="l"/>
              </a:tabLst>
            </a:pPr>
            <a:r>
              <a:rPr sz="2600" spc="-20">
                <a:latin typeface="Calibri"/>
                <a:cs typeface="Calibri"/>
              </a:rPr>
              <a:t>Parallelization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Louvain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Community</a:t>
            </a:r>
            <a:r>
              <a:rPr sz="2600" spc="-9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Detection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Algorithm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Large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Scale Graphs</a:t>
            </a:r>
            <a:endParaRPr sz="2600">
              <a:latin typeface="Calibri"/>
              <a:cs typeface="Calibri"/>
            </a:endParaRPr>
          </a:p>
          <a:p>
            <a:pPr marL="157480" marR="298450" indent="-144780">
              <a:lnSpc>
                <a:spcPct val="101099"/>
              </a:lnSpc>
              <a:spcBef>
                <a:spcPts val="600"/>
              </a:spcBef>
              <a:buFont typeface="Arial"/>
              <a:buChar char="•"/>
              <a:tabLst>
                <a:tab pos="157480" algn="l"/>
              </a:tabLst>
            </a:pPr>
            <a:r>
              <a:rPr sz="2600" b="1">
                <a:latin typeface="Calibri"/>
                <a:cs typeface="Calibri"/>
              </a:rPr>
              <a:t>Problem</a:t>
            </a:r>
            <a:r>
              <a:rPr sz="2600" b="1" spc="-70">
                <a:latin typeface="Calibri"/>
                <a:cs typeface="Calibri"/>
              </a:rPr>
              <a:t> </a:t>
            </a:r>
            <a:r>
              <a:rPr sz="2600" b="1">
                <a:latin typeface="Calibri"/>
                <a:cs typeface="Calibri"/>
              </a:rPr>
              <a:t>Definition:</a:t>
            </a:r>
            <a:r>
              <a:rPr sz="2600" b="1" spc="-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Given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 graph </a:t>
            </a:r>
            <a:r>
              <a:rPr sz="2600">
                <a:latin typeface="Cambria Math"/>
                <a:cs typeface="Cambria Math"/>
              </a:rPr>
              <a:t>𝐺(𝑉,</a:t>
            </a:r>
            <a:r>
              <a:rPr sz="2600" spc="-145">
                <a:latin typeface="Cambria Math"/>
                <a:cs typeface="Cambria Math"/>
              </a:rPr>
              <a:t> </a:t>
            </a:r>
            <a:r>
              <a:rPr sz="2600">
                <a:latin typeface="Cambria Math"/>
                <a:cs typeface="Cambria Math"/>
              </a:rPr>
              <a:t>𝐸)</a:t>
            </a:r>
            <a:r>
              <a:rPr sz="2600" spc="-30">
                <a:latin typeface="Cambria Math"/>
                <a:cs typeface="Cambria Math"/>
              </a:rPr>
              <a:t> </a:t>
            </a:r>
            <a:r>
              <a:rPr sz="2600">
                <a:latin typeface="Calibri"/>
                <a:cs typeface="Calibri"/>
              </a:rPr>
              <a:t>identify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subsets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 vertices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which </a:t>
            </a:r>
            <a:r>
              <a:rPr sz="2600">
                <a:latin typeface="Calibri"/>
                <a:cs typeface="Calibri"/>
              </a:rPr>
              <a:t>are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densely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connected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to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each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other</a:t>
            </a:r>
            <a:endParaRPr sz="2600">
              <a:latin typeface="Calibri"/>
              <a:cs typeface="Calibri"/>
            </a:endParaRPr>
          </a:p>
          <a:p>
            <a:pPr marL="156845" indent="-14414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600" spc="-10">
                <a:latin typeface="Calibri"/>
                <a:cs typeface="Calibri"/>
              </a:rPr>
              <a:t>Contributions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Develop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parallelization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technique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problem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hybrid</a:t>
            </a:r>
            <a:r>
              <a:rPr sz="2600" spc="-5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MPI/OpenMP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Comparison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against</a:t>
            </a:r>
            <a:r>
              <a:rPr sz="2600" spc="-10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serial</a:t>
            </a:r>
            <a:r>
              <a:rPr sz="2600" spc="-114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baseline</a:t>
            </a:r>
            <a:r>
              <a:rPr sz="2600" spc="-7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Research,</a:t>
            </a:r>
            <a:r>
              <a:rPr spc="-150"/>
              <a:t> </a:t>
            </a:r>
            <a:r>
              <a:t>Implement,</a:t>
            </a:r>
            <a:r>
              <a:rPr spc="-85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48905"/>
            <a:ext cx="9548495" cy="24104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469900" algn="l"/>
              </a:tabLst>
            </a:pPr>
            <a:r>
              <a:rPr sz="2600">
                <a:latin typeface="Calibri"/>
                <a:cs typeface="Calibri"/>
              </a:rPr>
              <a:t>Frequency</a:t>
            </a:r>
            <a:r>
              <a:rPr sz="2600" spc="-1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Domain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Acceleration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of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CNN</a:t>
            </a:r>
            <a:r>
              <a:rPr sz="2600" spc="-6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on</a:t>
            </a:r>
            <a:r>
              <a:rPr sz="2600" spc="-45">
                <a:latin typeface="Calibri"/>
                <a:cs typeface="Calibri"/>
              </a:rPr>
              <a:t> </a:t>
            </a:r>
            <a:r>
              <a:rPr sz="2600" spc="-20">
                <a:latin typeface="Calibri"/>
                <a:cs typeface="Calibri"/>
              </a:rPr>
              <a:t>GPUs</a:t>
            </a:r>
            <a:endParaRPr sz="26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56210" algn="l"/>
              </a:tabLst>
            </a:pPr>
            <a:r>
              <a:rPr sz="2600" spc="-10">
                <a:latin typeface="Calibri"/>
                <a:cs typeface="Calibri"/>
              </a:rPr>
              <a:t>Contributions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0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Develop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parallelization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technique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6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the</a:t>
            </a:r>
            <a:r>
              <a:rPr sz="2600" spc="-9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problem</a:t>
            </a:r>
            <a:r>
              <a:rPr sz="2600" spc="-5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suitable</a:t>
            </a:r>
            <a:r>
              <a:rPr sz="2600" spc="-8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for</a:t>
            </a:r>
            <a:r>
              <a:rPr sz="2600" spc="-70">
                <a:latin typeface="Calibri"/>
                <a:cs typeface="Calibri"/>
              </a:rPr>
              <a:t> </a:t>
            </a:r>
            <a:r>
              <a:rPr sz="2600" spc="-25">
                <a:latin typeface="Calibri"/>
                <a:cs typeface="Calibri"/>
              </a:rPr>
              <a:t>GPU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5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A</a:t>
            </a:r>
            <a:r>
              <a:rPr sz="2600" spc="-3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GPU</a:t>
            </a:r>
            <a:r>
              <a:rPr sz="2600" spc="-4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based</a:t>
            </a:r>
            <a:r>
              <a:rPr sz="2600" spc="-35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635"/>
              </a:spcBef>
            </a:pPr>
            <a:r>
              <a:rPr sz="2600" spc="-15">
                <a:latin typeface="Arial"/>
                <a:cs typeface="Arial"/>
              </a:rPr>
              <a:t>–</a:t>
            </a:r>
            <a:r>
              <a:rPr sz="2600">
                <a:latin typeface="Calibri"/>
                <a:cs typeface="Calibri"/>
              </a:rPr>
              <a:t>Comparison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against</a:t>
            </a:r>
            <a:r>
              <a:rPr sz="2600" spc="-105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serial</a:t>
            </a:r>
            <a:r>
              <a:rPr sz="2600" spc="-120">
                <a:latin typeface="Calibri"/>
                <a:cs typeface="Calibri"/>
              </a:rPr>
              <a:t> </a:t>
            </a:r>
            <a:r>
              <a:rPr sz="2600">
                <a:latin typeface="Calibri"/>
                <a:cs typeface="Calibri"/>
              </a:rPr>
              <a:t>baseline</a:t>
            </a:r>
            <a:r>
              <a:rPr sz="2600" spc="-80">
                <a:latin typeface="Calibri"/>
                <a:cs typeface="Calibri"/>
              </a:rPr>
              <a:t> </a:t>
            </a:r>
            <a:r>
              <a:rPr sz="2600" spc="-1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0409" y="332740"/>
            <a:ext cx="56356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Implement,</a:t>
            </a:r>
            <a:r>
              <a:rPr spc="-90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246995" cy="29540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Benchmarking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short-range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molecular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dynamics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b="1">
                <a:latin typeface="Calibri"/>
                <a:cs typeface="Calibri"/>
              </a:rPr>
              <a:t>Problem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Definition:</a:t>
            </a:r>
            <a:r>
              <a:rPr sz="2400" b="1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Molecular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Dynamics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65"/>
              </a:lnSpc>
            </a:pPr>
            <a:r>
              <a:rPr sz="2400">
                <a:latin typeface="Calibri"/>
                <a:cs typeface="Calibri"/>
              </a:rPr>
              <a:t>(simulating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properties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liquids,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solids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molecules)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Contributions:</a:t>
            </a:r>
            <a:endParaRPr sz="2400">
              <a:latin typeface="Calibri"/>
              <a:cs typeface="Calibri"/>
            </a:endParaRPr>
          </a:p>
          <a:p>
            <a:pPr marL="326390" marR="984250" indent="-120650">
              <a:lnSpc>
                <a:spcPts val="2850"/>
              </a:lnSpc>
              <a:spcBef>
                <a:spcPts val="695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(discussed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in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http://www.sciencedirect.com/science/article/pii/S002199918571039X</a:t>
            </a:r>
            <a:r>
              <a:rPr sz="2400" u="none" spc="-1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490"/>
              </a:spcBef>
            </a:pPr>
            <a:r>
              <a:rPr sz="2400" spc="-2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Perform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scalability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analysis: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0409" y="332740"/>
            <a:ext cx="56356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40"/>
              <a:t> </a:t>
            </a:r>
            <a:r>
              <a:t>Implement,</a:t>
            </a:r>
            <a:r>
              <a:rPr spc="-90"/>
              <a:t> </a:t>
            </a:r>
            <a:r>
              <a:rPr spc="-10"/>
              <a:t>Evaluate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275" y="1162240"/>
            <a:ext cx="10469245" cy="309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689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spc="-10">
                <a:latin typeface="Calibri"/>
                <a:cs typeface="Calibri"/>
              </a:rPr>
              <a:t>Benchmarking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collaborative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filtering</a:t>
            </a:r>
            <a:endParaRPr sz="2400">
              <a:latin typeface="Calibri"/>
              <a:cs typeface="Calibri"/>
            </a:endParaRPr>
          </a:p>
          <a:p>
            <a:pPr marL="1689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b="1">
                <a:latin typeface="Calibri"/>
                <a:cs typeface="Calibri"/>
              </a:rPr>
              <a:t>Problem</a:t>
            </a:r>
            <a:r>
              <a:rPr sz="2400" b="1" spc="-11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Definition: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Compare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1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Collaborative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Filtering</a:t>
            </a:r>
            <a:endParaRPr sz="2400">
              <a:latin typeface="Calibri"/>
              <a:cs typeface="Calibri"/>
            </a:endParaRPr>
          </a:p>
          <a:p>
            <a:pPr marL="1689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68910" algn="l"/>
              </a:tabLst>
            </a:pPr>
            <a:r>
              <a:rPr sz="2400" spc="-10">
                <a:latin typeface="Calibri"/>
                <a:cs typeface="Calibri"/>
              </a:rPr>
              <a:t>Contributions:</a:t>
            </a:r>
            <a:endParaRPr sz="2400">
              <a:latin typeface="Calibri"/>
              <a:cs typeface="Calibri"/>
            </a:endParaRPr>
          </a:p>
          <a:p>
            <a:pPr marL="218440">
              <a:lnSpc>
                <a:spcPct val="100000"/>
              </a:lnSpc>
              <a:spcBef>
                <a:spcPts val="570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Implementation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existing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parallel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175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17525" algn="l"/>
              </a:tabLst>
            </a:pPr>
            <a:r>
              <a:rPr sz="2400">
                <a:latin typeface="Calibri"/>
                <a:cs typeface="Calibri"/>
              </a:rPr>
              <a:t>1.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Co-clustering</a:t>
            </a:r>
            <a:r>
              <a:rPr sz="2325" spc="-15" baseline="26881">
                <a:latin typeface="Calibri"/>
                <a:cs typeface="Calibri"/>
              </a:rPr>
              <a:t>1</a:t>
            </a:r>
            <a:endParaRPr sz="2325" baseline="26881">
              <a:latin typeface="Calibri"/>
              <a:cs typeface="Calibri"/>
            </a:endParaRPr>
          </a:p>
          <a:p>
            <a:pPr marL="517525" lvl="1" indent="-11430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517525" algn="l"/>
              </a:tabLst>
            </a:pPr>
            <a:r>
              <a:rPr sz="2400">
                <a:latin typeface="Calibri"/>
                <a:cs typeface="Calibri"/>
              </a:rPr>
              <a:t>2.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Alternative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Least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Squares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with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Weighted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Regularization</a:t>
            </a:r>
            <a:r>
              <a:rPr sz="2325" spc="-15" baseline="26881">
                <a:latin typeface="Calibri"/>
                <a:cs typeface="Calibri"/>
              </a:rPr>
              <a:t>2</a:t>
            </a:r>
            <a:endParaRPr sz="2325" baseline="26881">
              <a:latin typeface="Calibri"/>
              <a:cs typeface="Calibri"/>
            </a:endParaRPr>
          </a:p>
          <a:p>
            <a:pPr marL="218440">
              <a:lnSpc>
                <a:spcPct val="100000"/>
              </a:lnSpc>
              <a:spcBef>
                <a:spcPts val="575"/>
              </a:spcBef>
            </a:pPr>
            <a:r>
              <a:rPr sz="2400">
                <a:latin typeface="Arial"/>
                <a:cs typeface="Arial"/>
              </a:rPr>
              <a:t>–</a:t>
            </a:r>
            <a:r>
              <a:rPr sz="2400" spc="-10">
                <a:latin typeface="Calibri"/>
                <a:cs typeface="Calibri"/>
              </a:rPr>
              <a:t>Perform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scalability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analysis: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Evaluate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2845" y="5593715"/>
            <a:ext cx="637667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151765">
              <a:lnSpc>
                <a:spcPts val="1435"/>
              </a:lnSpc>
              <a:spcBef>
                <a:spcPts val="100"/>
              </a:spcBef>
              <a:buAutoNum type="arabicPeriod"/>
              <a:tabLst>
                <a:tab pos="164465" algn="l"/>
              </a:tabLst>
            </a:pPr>
            <a:r>
              <a:rPr sz="1200" spc="-10">
                <a:latin typeface="Calibri"/>
                <a:cs typeface="Calibri"/>
                <a:hlinkClick r:id="rId2"/>
              </a:rPr>
              <a:t>http://ieeexplore.ieee.org/abstract/document/1565742/</a:t>
            </a:r>
            <a:endParaRPr sz="1200">
              <a:latin typeface="Calibri"/>
              <a:cs typeface="Calibri"/>
            </a:endParaRPr>
          </a:p>
          <a:p>
            <a:pPr marL="164465" indent="-151765">
              <a:lnSpc>
                <a:spcPts val="1435"/>
              </a:lnSpc>
              <a:buAutoNum type="arabicPeriod"/>
              <a:tabLst>
                <a:tab pos="164465" algn="l"/>
              </a:tabLst>
            </a:pPr>
            <a:r>
              <a:rPr sz="1200" spc="-10">
                <a:latin typeface="Calibri"/>
                <a:cs typeface="Calibri"/>
                <a:hlinkClick r:id="rId3"/>
              </a:rPr>
              <a:t>http://www.grappa.univ-lille3.fr/~mary/cours/stats/centrale/reco/paper/MatrixFactorizationALS.pdf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t>Example:</a:t>
            </a:r>
            <a:r>
              <a:rPr spc="-180"/>
              <a:t> </a:t>
            </a:r>
            <a:r>
              <a:t>Application</a:t>
            </a:r>
            <a:r>
              <a:rPr spc="-145"/>
              <a:t> </a:t>
            </a:r>
            <a:r>
              <a:rPr spc="-10"/>
              <a:t>Implementation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5575" algn="l"/>
              </a:tabLst>
            </a:pPr>
            <a:r>
              <a:t>Build</a:t>
            </a:r>
            <a:r>
              <a:rPr spc="-60"/>
              <a:t> </a:t>
            </a:r>
            <a:r>
              <a:t>a</a:t>
            </a:r>
            <a:r>
              <a:rPr spc="-90"/>
              <a:t> </a:t>
            </a:r>
            <a:r>
              <a:t>distributed</a:t>
            </a:r>
            <a:r>
              <a:rPr spc="-55"/>
              <a:t> </a:t>
            </a:r>
            <a:r>
              <a:rPr spc="-10"/>
              <a:t>regression</a:t>
            </a:r>
            <a:r>
              <a:rPr spc="-60"/>
              <a:t> </a:t>
            </a:r>
            <a:r>
              <a:t>tree-based</a:t>
            </a:r>
            <a:r>
              <a:rPr spc="-50"/>
              <a:t> </a:t>
            </a:r>
            <a:r>
              <a:rPr spc="-10"/>
              <a:t>classifier</a:t>
            </a:r>
          </a:p>
          <a:p>
            <a:pPr marL="155575" indent="-142875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5575" algn="l"/>
              </a:tabLst>
            </a:pPr>
            <a:r>
              <a:rPr b="1">
                <a:latin typeface="Calibri"/>
                <a:cs typeface="Calibri"/>
              </a:rPr>
              <a:t>Problem</a:t>
            </a:r>
            <a:r>
              <a:rPr b="1" spc="-75">
                <a:latin typeface="Calibri"/>
                <a:cs typeface="Calibri"/>
              </a:rPr>
              <a:t> </a:t>
            </a:r>
            <a:r>
              <a:rPr b="1">
                <a:latin typeface="Calibri"/>
                <a:cs typeface="Calibri"/>
              </a:rPr>
              <a:t>Definition:</a:t>
            </a:r>
            <a:r>
              <a:rPr b="1" spc="-50">
                <a:latin typeface="Calibri"/>
                <a:cs typeface="Calibri"/>
              </a:rPr>
              <a:t> </a:t>
            </a:r>
            <a:r>
              <a:t>A</a:t>
            </a:r>
            <a:r>
              <a:rPr spc="-35"/>
              <a:t> </a:t>
            </a:r>
            <a:r>
              <a:rPr spc="-10"/>
              <a:t>system</a:t>
            </a:r>
            <a:r>
              <a:rPr spc="-35"/>
              <a:t> </a:t>
            </a:r>
            <a:r>
              <a:t>to</a:t>
            </a:r>
            <a:r>
              <a:rPr spc="-60"/>
              <a:t> </a:t>
            </a:r>
            <a:r>
              <a:t>perform</a:t>
            </a:r>
            <a:r>
              <a:rPr spc="-40"/>
              <a:t> </a:t>
            </a:r>
            <a:r>
              <a:t>regression</a:t>
            </a:r>
            <a:r>
              <a:rPr spc="-55"/>
              <a:t> </a:t>
            </a:r>
            <a:r>
              <a:rPr spc="-30"/>
              <a:t>tree-</a:t>
            </a:r>
            <a:r>
              <a:t>based</a:t>
            </a:r>
            <a:r>
              <a:rPr spc="-55"/>
              <a:t> </a:t>
            </a:r>
            <a:r>
              <a:rPr spc="-10"/>
              <a:t>classification</a:t>
            </a:r>
            <a:r>
              <a:rPr spc="-55"/>
              <a:t> </a:t>
            </a:r>
            <a:r>
              <a:t>on</a:t>
            </a:r>
            <a:r>
              <a:rPr spc="-60"/>
              <a:t> </a:t>
            </a:r>
            <a:r>
              <a:rPr spc="-20"/>
              <a:t>very</a:t>
            </a:r>
          </a:p>
          <a:p>
            <a:pPr marL="156210">
              <a:lnSpc>
                <a:spcPts val="2865"/>
              </a:lnSpc>
            </a:pPr>
            <a:r>
              <a:t>large</a:t>
            </a:r>
            <a:r>
              <a:rPr spc="-114"/>
              <a:t> </a:t>
            </a:r>
            <a:r>
              <a:rPr spc="-10"/>
              <a:t>datasets</a:t>
            </a:r>
          </a:p>
          <a:p>
            <a:pPr marL="155575" indent="-14287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55575" algn="l"/>
              </a:tabLst>
            </a:pPr>
            <a:r>
              <a:rPr spc="-10"/>
              <a:t>Contributions:</a:t>
            </a:r>
          </a:p>
          <a:p>
            <a:pPr marL="325755" marR="285750" indent="-120014">
              <a:lnSpc>
                <a:spcPts val="2850"/>
              </a:lnSpc>
              <a:spcBef>
                <a:spcPts val="695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t>A</a:t>
            </a:r>
            <a:r>
              <a:rPr spc="-75"/>
              <a:t> </a:t>
            </a:r>
            <a:r>
              <a:t>work</a:t>
            </a:r>
            <a:r>
              <a:rPr spc="-75"/>
              <a:t> </a:t>
            </a:r>
            <a:r>
              <a:t>scheduling/data</a:t>
            </a:r>
            <a:r>
              <a:rPr spc="-60"/>
              <a:t> </a:t>
            </a:r>
            <a:r>
              <a:t>partitioning</a:t>
            </a:r>
            <a:r>
              <a:rPr spc="-105"/>
              <a:t> </a:t>
            </a:r>
            <a:r>
              <a:t>algorithm</a:t>
            </a:r>
            <a:r>
              <a:rPr spc="-135"/>
              <a:t> </a:t>
            </a:r>
            <a:r>
              <a:t>optimized</a:t>
            </a:r>
            <a:r>
              <a:rPr spc="-85"/>
              <a:t> </a:t>
            </a:r>
            <a:r>
              <a:t>for</a:t>
            </a:r>
            <a:r>
              <a:rPr spc="-110"/>
              <a:t> </a:t>
            </a:r>
            <a:r>
              <a:t>regression</a:t>
            </a:r>
            <a:r>
              <a:rPr spc="-90"/>
              <a:t> </a:t>
            </a:r>
            <a:r>
              <a:t>tree</a:t>
            </a:r>
            <a:r>
              <a:rPr spc="-95"/>
              <a:t> </a:t>
            </a:r>
            <a:r>
              <a:rPr spc="-20"/>
              <a:t>type </a:t>
            </a:r>
            <a:r>
              <a:t>data</a:t>
            </a:r>
            <a:r>
              <a:rPr spc="-65"/>
              <a:t> </a:t>
            </a:r>
            <a:r>
              <a:t>access</a:t>
            </a:r>
            <a:r>
              <a:rPr spc="-65"/>
              <a:t> </a:t>
            </a:r>
            <a:r>
              <a:rPr spc="-10"/>
              <a:t>pattern</a:t>
            </a:r>
          </a:p>
          <a:p>
            <a:pPr marL="205740">
              <a:lnSpc>
                <a:spcPct val="100000"/>
              </a:lnSpc>
              <a:spcBef>
                <a:spcPts val="490"/>
              </a:spcBef>
            </a:pPr>
            <a:r>
              <a:rPr spc="-20">
                <a:latin typeface="Arial"/>
                <a:cs typeface="Arial"/>
              </a:rPr>
              <a:t>–</a:t>
            </a:r>
            <a:r>
              <a:rPr spc="-10"/>
              <a:t>Implementation</a:t>
            </a:r>
            <a:r>
              <a:rPr spc="-35"/>
              <a:t> </a:t>
            </a:r>
            <a:r>
              <a:t>of</a:t>
            </a:r>
            <a:r>
              <a:rPr spc="-2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system</a:t>
            </a:r>
            <a:r>
              <a:rPr spc="-80"/>
              <a:t> </a:t>
            </a:r>
            <a:r>
              <a:t>which</a:t>
            </a:r>
            <a:r>
              <a:rPr spc="-30"/>
              <a:t> </a:t>
            </a:r>
            <a:r>
              <a:rPr spc="-10"/>
              <a:t>performs</a:t>
            </a:r>
            <a:r>
              <a:rPr spc="-80"/>
              <a:t> </a:t>
            </a:r>
            <a:r>
              <a:rPr spc="-10"/>
              <a:t>classification.</a:t>
            </a:r>
          </a:p>
          <a:p>
            <a:pPr marL="205740">
              <a:lnSpc>
                <a:spcPct val="100000"/>
              </a:lnSpc>
              <a:spcBef>
                <a:spcPts val="575"/>
              </a:spcBef>
            </a:pPr>
            <a:r>
              <a:rPr>
                <a:latin typeface="Arial"/>
                <a:cs typeface="Arial"/>
              </a:rPr>
              <a:t>–</a:t>
            </a:r>
            <a:r>
              <a:rPr spc="-10"/>
              <a:t>Performance</a:t>
            </a:r>
            <a:r>
              <a:rPr spc="-15"/>
              <a:t> </a:t>
            </a:r>
            <a:r>
              <a:rPr spc="-10"/>
              <a:t>evaluation</a:t>
            </a:r>
            <a:r>
              <a:rPr spc="-70"/>
              <a:t> </a:t>
            </a:r>
            <a:r>
              <a:t>of</a:t>
            </a:r>
            <a:r>
              <a:rPr spc="-65"/>
              <a:t> </a:t>
            </a:r>
            <a:r>
              <a:t>the</a:t>
            </a:r>
            <a:r>
              <a:rPr spc="-75"/>
              <a:t> </a:t>
            </a:r>
            <a:r>
              <a:rPr spc="-10"/>
              <a:t>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6960">
              <a:lnSpc>
                <a:spcPct val="100000"/>
              </a:lnSpc>
              <a:spcBef>
                <a:spcPts val="105"/>
              </a:spcBef>
            </a:pPr>
            <a:r>
              <a:t>More</a:t>
            </a:r>
            <a:r>
              <a:rPr spc="-75"/>
              <a:t> </a:t>
            </a:r>
            <a:r>
              <a:rPr spc="-1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238694"/>
            <a:ext cx="10794365" cy="33928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0">
                <a:latin typeface="Calibri"/>
                <a:cs typeface="Calibri"/>
              </a:rPr>
              <a:t>Triangle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counting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large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graphs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using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SpMM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156210" marR="965835" indent="-143510">
              <a:lnSpc>
                <a:spcPts val="2850"/>
              </a:lnSpc>
              <a:spcBef>
                <a:spcPts val="695"/>
              </a:spcBef>
              <a:buFont typeface="Arial"/>
              <a:buChar char="•"/>
              <a:tabLst>
                <a:tab pos="157480" algn="l"/>
              </a:tabLst>
            </a:pPr>
            <a:r>
              <a:rPr sz="2400">
                <a:latin typeface="Calibri"/>
                <a:cs typeface="Calibri"/>
              </a:rPr>
              <a:t>Ray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tracer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with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Pthreads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CUDA: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Evaluating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CUDA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performance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control-	intensive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Parallel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first-</a:t>
            </a:r>
            <a:r>
              <a:rPr sz="2400">
                <a:latin typeface="Calibri"/>
                <a:cs typeface="Calibri"/>
              </a:rPr>
              <a:t>order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logic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inference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70"/>
              </a:lnSpc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Application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Predictive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Analysis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Stock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Price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Computation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TA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Indicators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Parallelizing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Image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Processing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Filters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5865">
              <a:lnSpc>
                <a:spcPct val="100000"/>
              </a:lnSpc>
              <a:spcBef>
                <a:spcPts val="105"/>
              </a:spcBef>
            </a:pPr>
            <a:r>
              <a:t>Good</a:t>
            </a:r>
            <a:r>
              <a:rPr spc="-45"/>
              <a:t> </a:t>
            </a:r>
            <a:r>
              <a:rPr spc="-1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378303"/>
            <a:ext cx="10041255" cy="171703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30">
                <a:latin typeface="Calibri"/>
                <a:cs typeface="Calibri"/>
              </a:rPr>
              <a:t>Well-</a:t>
            </a:r>
            <a:r>
              <a:rPr sz="2400">
                <a:latin typeface="Calibri"/>
                <a:cs typeface="Calibri"/>
              </a:rPr>
              <a:t>defined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terms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parallelization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(Triangle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counting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Ray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tracing)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Font typeface="Arial"/>
              <a:buChar char="–"/>
              <a:tabLst>
                <a:tab pos="426084" algn="l"/>
              </a:tabLst>
            </a:pPr>
            <a:r>
              <a:rPr sz="2250" spc="-25">
                <a:latin typeface="Calibri"/>
                <a:cs typeface="Calibri"/>
              </a:rPr>
              <a:t>Understand</a:t>
            </a:r>
            <a:r>
              <a:rPr sz="2250" spc="-85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topic</a:t>
            </a:r>
            <a:r>
              <a:rPr sz="2250" spc="-75">
                <a:latin typeface="Calibri"/>
                <a:cs typeface="Calibri"/>
              </a:rPr>
              <a:t> </a:t>
            </a:r>
            <a:r>
              <a:rPr sz="2250" spc="-20">
                <a:latin typeface="Calibri"/>
                <a:cs typeface="Calibri"/>
              </a:rPr>
              <a:t>(performance</a:t>
            </a:r>
            <a:r>
              <a:rPr sz="2250" spc="-10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metrics,</a:t>
            </a:r>
            <a:r>
              <a:rPr sz="2250" spc="-65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dataset,</a:t>
            </a:r>
            <a:r>
              <a:rPr sz="2250" spc="-70">
                <a:latin typeface="Calibri"/>
                <a:cs typeface="Calibri"/>
              </a:rPr>
              <a:t> </a:t>
            </a:r>
            <a:r>
              <a:rPr sz="2250" spc="-25">
                <a:latin typeface="Calibri"/>
                <a:cs typeface="Calibri"/>
              </a:rPr>
              <a:t>terminology,</a:t>
            </a:r>
            <a:r>
              <a:rPr sz="2250" spc="-65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etc.)</a:t>
            </a:r>
            <a:endParaRPr sz="225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6084" algn="l"/>
              </a:tabLst>
            </a:pPr>
            <a:r>
              <a:rPr sz="2250" spc="-25">
                <a:latin typeface="Calibri"/>
                <a:cs typeface="Calibri"/>
              </a:rPr>
              <a:t>Understand</a:t>
            </a:r>
            <a:r>
              <a:rPr sz="2250" spc="-9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concepts</a:t>
            </a:r>
            <a:r>
              <a:rPr sz="2250" spc="-25">
                <a:latin typeface="Calibri"/>
                <a:cs typeface="Calibri"/>
              </a:rPr>
              <a:t> </a:t>
            </a:r>
            <a:r>
              <a:rPr sz="2250" spc="-20">
                <a:latin typeface="Calibri"/>
                <a:cs typeface="Calibri"/>
              </a:rPr>
              <a:t>taught</a:t>
            </a:r>
            <a:r>
              <a:rPr sz="2250" spc="-105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in</a:t>
            </a:r>
            <a:r>
              <a:rPr sz="2250" spc="-20">
                <a:latin typeface="Calibri"/>
                <a:cs typeface="Calibri"/>
              </a:rPr>
              <a:t> </a:t>
            </a:r>
            <a:r>
              <a:rPr sz="2250">
                <a:latin typeface="Calibri"/>
                <a:cs typeface="Calibri"/>
              </a:rPr>
              <a:t>the</a:t>
            </a:r>
            <a:r>
              <a:rPr sz="2250" spc="-30">
                <a:latin typeface="Calibri"/>
                <a:cs typeface="Calibri"/>
              </a:rPr>
              <a:t> </a:t>
            </a:r>
            <a:r>
              <a:rPr sz="2250" spc="-10">
                <a:latin typeface="Calibri"/>
                <a:cs typeface="Calibri"/>
              </a:rPr>
              <a:t>lecture</a:t>
            </a:r>
            <a:endParaRPr sz="225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Clear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hypothesis,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experiments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supports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hypothesis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1210">
              <a:lnSpc>
                <a:spcPct val="100000"/>
              </a:lnSpc>
              <a:spcBef>
                <a:spcPts val="105"/>
              </a:spcBef>
            </a:pPr>
            <a:r>
              <a:t>Common</a:t>
            </a:r>
            <a:r>
              <a:rPr spc="-70"/>
              <a:t> </a:t>
            </a:r>
            <a:r>
              <a:rPr spc="-20"/>
              <a:t>Mistakes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015035"/>
            <a:ext cx="10755630" cy="483743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24154" indent="-211454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Trivial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problem: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parallelize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matrix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multiplication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>
                <a:latin typeface="Calibri"/>
                <a:cs typeface="Calibri"/>
              </a:rPr>
              <a:t>“what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non-</a:t>
            </a:r>
            <a:r>
              <a:rPr sz="2000">
                <a:latin typeface="Calibri"/>
                <a:cs typeface="Calibri"/>
              </a:rPr>
              <a:t>trivial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part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this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problem?”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“what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parallelization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challenges?”</a:t>
            </a:r>
            <a:endParaRPr sz="20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Lengthy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hypothesis: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having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more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than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sentences/bullet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points,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ct val="100000"/>
              </a:lnSpc>
              <a:spcBef>
                <a:spcPts val="50"/>
              </a:spcBef>
            </a:pPr>
            <a:r>
              <a:rPr sz="2400">
                <a:latin typeface="Calibri"/>
                <a:cs typeface="Calibri"/>
              </a:rPr>
              <a:t>doing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wrong</a:t>
            </a:r>
            <a:endParaRPr sz="24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4154" algn="l"/>
              </a:tabLst>
            </a:pPr>
            <a:r>
              <a:rPr sz="2400">
                <a:latin typeface="Calibri"/>
                <a:cs typeface="Calibri"/>
              </a:rPr>
              <a:t>Meaningless</a:t>
            </a:r>
            <a:r>
              <a:rPr sz="2400" spc="-114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experiments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00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 spc="-10">
                <a:latin typeface="Calibri"/>
                <a:cs typeface="Calibri"/>
              </a:rPr>
              <a:t>Implemented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using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Pthreads</a:t>
            </a:r>
            <a:r>
              <a:rPr sz="2000" spc="-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OpenMP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7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Ran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P100,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V100,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A100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GPUs</a:t>
            </a:r>
            <a:endParaRPr sz="2000">
              <a:latin typeface="Calibri"/>
              <a:cs typeface="Calibri"/>
            </a:endParaRPr>
          </a:p>
          <a:p>
            <a:pPr marL="224154" indent="-211454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24154" algn="l"/>
              </a:tabLst>
            </a:pPr>
            <a:r>
              <a:rPr sz="2400" spc="-10">
                <a:latin typeface="Calibri"/>
                <a:cs typeface="Calibri"/>
              </a:rPr>
              <a:t>Unreasonable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setup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(usually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due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lack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understanding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about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topic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and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451)</a:t>
            </a:r>
            <a:endParaRPr sz="2400">
              <a:latin typeface="Calibri"/>
              <a:cs typeface="Calibri"/>
            </a:endParaRPr>
          </a:p>
          <a:p>
            <a:pPr marL="426084" lvl="1" indent="-220345">
              <a:lnSpc>
                <a:spcPct val="100000"/>
              </a:lnSpc>
              <a:spcBef>
                <a:spcPts val="575"/>
              </a:spcBef>
              <a:buSzPct val="112500"/>
              <a:buFont typeface="Arial"/>
              <a:buChar char="–"/>
              <a:tabLst>
                <a:tab pos="426084" algn="l"/>
              </a:tabLst>
            </a:pPr>
            <a:r>
              <a:rPr sz="2000">
                <a:latin typeface="Calibri"/>
                <a:cs typeface="Calibri"/>
              </a:rPr>
              <a:t>Small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403225" algn="l"/>
              </a:tabLst>
            </a:pPr>
            <a:r>
              <a:rPr sz="2000" spc="-10">
                <a:latin typeface="Calibri"/>
                <a:cs typeface="Calibri"/>
              </a:rPr>
              <a:t>Unreasonable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magnitude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3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03225" lvl="1" indent="-197485">
              <a:lnSpc>
                <a:spcPct val="100000"/>
              </a:lnSpc>
              <a:spcBef>
                <a:spcPts val="455"/>
              </a:spcBef>
              <a:buFont typeface="Arial"/>
              <a:buChar char="–"/>
              <a:tabLst>
                <a:tab pos="403225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does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not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need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parallelization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t>Frequently</a:t>
            </a:r>
            <a:r>
              <a:rPr spc="-215"/>
              <a:t> </a:t>
            </a:r>
            <a:r>
              <a:t>Asked</a:t>
            </a:r>
            <a:r>
              <a:rPr spc="-165"/>
              <a:t> </a:t>
            </a:r>
            <a:r>
              <a:rPr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5896610" cy="22193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Is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double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dipping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allowed?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Can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use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codes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GitHub?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What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kind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topics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qualified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 </a:t>
            </a:r>
            <a:r>
              <a:rPr sz="2400" spc="-10">
                <a:latin typeface="Calibri"/>
                <a:cs typeface="Calibri"/>
              </a:rPr>
              <a:t>project?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My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teammate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disappears</a:t>
            </a:r>
            <a:endParaRPr sz="24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3520" algn="l"/>
              </a:tabLst>
            </a:pPr>
            <a:r>
              <a:rPr sz="2400">
                <a:latin typeface="Calibri"/>
                <a:cs typeface="Calibri"/>
              </a:rPr>
              <a:t>Can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help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me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debug?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24075">
              <a:lnSpc>
                <a:spcPct val="100000"/>
              </a:lnSpc>
              <a:spcBef>
                <a:spcPts val="105"/>
              </a:spcBef>
            </a:pPr>
            <a:r>
              <a:t>Course</a:t>
            </a:r>
            <a:r>
              <a:rPr spc="-120"/>
              <a:t> </a:t>
            </a:r>
            <a:r>
              <a:t>Project</a:t>
            </a:r>
            <a:r>
              <a:rPr spc="-130"/>
              <a:t> </a:t>
            </a:r>
            <a:r>
              <a:rPr spc="-25"/>
              <a:t>(6)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pc="-10"/>
              <a:t>Submission:</a:t>
            </a:r>
          </a:p>
          <a:p>
            <a:pPr marL="442595" lvl="1" indent="-236854">
              <a:lnSpc>
                <a:spcPts val="2865"/>
              </a:lnSpc>
              <a:spcBef>
                <a:spcPts val="575"/>
              </a:spcBef>
              <a:buFont typeface="Arial"/>
              <a:buChar char="–"/>
              <a:tabLst>
                <a:tab pos="442595" algn="l"/>
              </a:tabLst>
            </a:pPr>
            <a:r>
              <a:rPr sz="2400">
                <a:latin typeface="Calibri"/>
                <a:cs typeface="Calibri"/>
              </a:rPr>
              <a:t>Provide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all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necessary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items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graders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run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project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(program,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datasets,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ts val="2865"/>
              </a:lnSpc>
            </a:pPr>
            <a:r>
              <a:t>README</a:t>
            </a:r>
            <a:r>
              <a:rPr spc="-60"/>
              <a:t> </a:t>
            </a:r>
            <a:r>
              <a:t>files,</a:t>
            </a:r>
            <a:r>
              <a:rPr spc="-75"/>
              <a:t> </a:t>
            </a:r>
            <a:r>
              <a:rPr spc="-20"/>
              <a:t>etc.)</a:t>
            </a:r>
          </a:p>
          <a:p>
            <a:pPr marL="443230" lvl="1" indent="-237490">
              <a:lnSpc>
                <a:spcPts val="2870"/>
              </a:lnSpc>
              <a:spcBef>
                <a:spcPts val="650"/>
              </a:spcBef>
              <a:buFont typeface="Arial"/>
              <a:buChar char="–"/>
              <a:tabLst>
                <a:tab pos="443230" algn="l"/>
              </a:tabLst>
            </a:pPr>
            <a:r>
              <a:rPr sz="2400">
                <a:latin typeface="Calibri"/>
                <a:cs typeface="Calibri"/>
              </a:rPr>
              <a:t>Imagine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are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providing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homework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folder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students.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 spc="-45">
                <a:latin typeface="Calibri"/>
                <a:cs typeface="Calibri"/>
              </a:rPr>
              <a:t>You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provide</a:t>
            </a:r>
            <a:endParaRPr sz="2400">
              <a:latin typeface="Calibri"/>
              <a:cs typeface="Calibri"/>
            </a:endParaRPr>
          </a:p>
          <a:p>
            <a:pPr marL="326390">
              <a:lnSpc>
                <a:spcPts val="2870"/>
              </a:lnSpc>
            </a:pPr>
            <a:r>
              <a:t>all</a:t>
            </a:r>
            <a:r>
              <a:rPr spc="-85"/>
              <a:t> </a:t>
            </a:r>
            <a:r>
              <a:t>necessary</a:t>
            </a:r>
            <a:r>
              <a:rPr spc="-40"/>
              <a:t> </a:t>
            </a:r>
            <a:r>
              <a:t>instructions</a:t>
            </a:r>
            <a:r>
              <a:rPr spc="-30"/>
              <a:t> </a:t>
            </a:r>
            <a:r>
              <a:t>so</a:t>
            </a:r>
            <a:r>
              <a:rPr spc="-60"/>
              <a:t> </a:t>
            </a:r>
            <a:r>
              <a:t>that</a:t>
            </a:r>
            <a:r>
              <a:rPr spc="-110"/>
              <a:t> </a:t>
            </a:r>
            <a:r>
              <a:t>others</a:t>
            </a:r>
            <a:r>
              <a:rPr spc="-30"/>
              <a:t> </a:t>
            </a:r>
            <a:r>
              <a:t>can</a:t>
            </a:r>
            <a:r>
              <a:rPr spc="-55"/>
              <a:t> </a:t>
            </a:r>
            <a:r>
              <a:t>run</a:t>
            </a:r>
            <a:r>
              <a:rPr spc="-50"/>
              <a:t> </a:t>
            </a:r>
            <a:r>
              <a:t>your</a:t>
            </a:r>
            <a:r>
              <a:rPr spc="-10"/>
              <a:t> code.</a:t>
            </a:r>
          </a:p>
          <a:p>
            <a:pPr marL="442595" lvl="1" indent="-236854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442595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run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entirely</a:t>
            </a:r>
            <a:endParaRPr sz="2400">
              <a:latin typeface="Calibri"/>
              <a:cs typeface="Calibri"/>
            </a:endParaRPr>
          </a:p>
          <a:p>
            <a:pPr marL="495300" marR="17780" lvl="2" indent="-104775">
              <a:lnSpc>
                <a:spcPts val="2850"/>
              </a:lnSpc>
              <a:spcBef>
                <a:spcPts val="695"/>
              </a:spcBef>
              <a:buSzPct val="95833"/>
              <a:buFont typeface="Arial"/>
              <a:buChar char="•"/>
              <a:tabLst>
                <a:tab pos="495300" algn="l"/>
                <a:tab pos="504825" algn="l"/>
              </a:tabLst>
            </a:pPr>
            <a:r>
              <a:rPr sz="2400">
                <a:latin typeface="Calibri"/>
                <a:cs typeface="Calibri"/>
              </a:rPr>
              <a:t>	E.g.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handwriting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recognition,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should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provide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set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images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which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contain handwritten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characters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input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as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part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submission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05"/>
              </a:spcBef>
            </a:pPr>
            <a:r>
              <a:rPr spc="-10"/>
              <a:t>Programming</a:t>
            </a:r>
            <a:r>
              <a:rPr spc="-110"/>
              <a:t> </a:t>
            </a:r>
            <a:r>
              <a:rPr spc="-10"/>
              <a:t>Platforms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5004435" cy="26581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Pthreads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OpenMP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5">
                <a:latin typeface="Calibri"/>
                <a:cs typeface="Calibri"/>
              </a:rPr>
              <a:t>MPI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5">
                <a:latin typeface="Calibri"/>
                <a:cs typeface="Calibri"/>
              </a:rPr>
              <a:t>GPU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MapReduce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Hybrid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or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more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platforms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above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6875" y="454913"/>
            <a:ext cx="378967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The</a:t>
            </a:r>
            <a:r>
              <a:rPr spc="-75"/>
              <a:t> </a:t>
            </a:r>
            <a:r>
              <a:t>clock</a:t>
            </a:r>
            <a:r>
              <a:rPr spc="-5"/>
              <a:t> </a:t>
            </a:r>
            <a:r>
              <a:t>is</a:t>
            </a:r>
            <a:r>
              <a:rPr spc="15"/>
              <a:t> </a:t>
            </a:r>
            <a:r>
              <a:rPr spc="-10"/>
              <a:t>ticking…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157394"/>
            <a:ext cx="6216015" cy="211582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155575" algn="l"/>
              </a:tabLst>
            </a:pPr>
            <a:r>
              <a:rPr sz="240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400" spc="-10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1E1C11"/>
                </a:solidFill>
                <a:latin typeface="Calibri"/>
                <a:cs typeface="Calibri"/>
              </a:rPr>
              <a:t>timeline</a:t>
            </a:r>
            <a:endParaRPr sz="240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428625" algn="l"/>
              </a:tabLst>
            </a:pP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spc="-9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7:</a:t>
            </a:r>
            <a:r>
              <a:rPr sz="2250" spc="-4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Identify</a:t>
            </a:r>
            <a:r>
              <a:rPr sz="2250" spc="-8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team</a:t>
            </a:r>
            <a:r>
              <a:rPr sz="2250" spc="-4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members</a:t>
            </a:r>
            <a:r>
              <a:rPr sz="2250" spc="-3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and</a:t>
            </a:r>
            <a:r>
              <a:rPr sz="2250" spc="-9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4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topic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428625" algn="l"/>
              </a:tabLst>
            </a:pP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b="1" spc="-3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8:</a:t>
            </a:r>
            <a:r>
              <a:rPr sz="2250" b="1" spc="-8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b="1" spc="-8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proposal</a:t>
            </a:r>
            <a:r>
              <a:rPr sz="2250" b="1" spc="-9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>
                <a:solidFill>
                  <a:srgbClr val="1E1C11"/>
                </a:solidFill>
                <a:latin typeface="Calibri"/>
                <a:cs typeface="Calibri"/>
              </a:rPr>
              <a:t>due</a:t>
            </a:r>
            <a:r>
              <a:rPr sz="2250" b="1" spc="-7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 spc="-10">
                <a:solidFill>
                  <a:srgbClr val="1E1C11"/>
                </a:solidFill>
                <a:latin typeface="Calibri"/>
                <a:cs typeface="Calibri"/>
              </a:rPr>
              <a:t>(Friday,</a:t>
            </a:r>
            <a:r>
              <a:rPr sz="2250" b="1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b="1" spc="-10">
                <a:solidFill>
                  <a:srgbClr val="1E1C11"/>
                </a:solidFill>
                <a:latin typeface="Calibri"/>
                <a:cs typeface="Calibri"/>
              </a:rPr>
              <a:t>10/18)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8625" algn="l"/>
              </a:tabLst>
            </a:pP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Weeks</a:t>
            </a:r>
            <a:r>
              <a:rPr sz="2250" spc="-11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13-15:</a:t>
            </a:r>
            <a:r>
              <a:rPr sz="2250" spc="-6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Student</a:t>
            </a:r>
            <a:r>
              <a:rPr sz="2250" spc="-6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7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10">
                <a:solidFill>
                  <a:srgbClr val="1E1C11"/>
                </a:solidFill>
                <a:latin typeface="Calibri"/>
                <a:cs typeface="Calibri"/>
              </a:rPr>
              <a:t>Presentations</a:t>
            </a:r>
            <a:endParaRPr sz="2250">
              <a:latin typeface="Calibri"/>
              <a:cs typeface="Calibri"/>
            </a:endParaRPr>
          </a:p>
          <a:p>
            <a:pPr marL="428625" lvl="1" indent="-22288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428625" algn="l"/>
              </a:tabLst>
            </a:pP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Week</a:t>
            </a:r>
            <a:r>
              <a:rPr sz="2250" spc="-9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15:</a:t>
            </a:r>
            <a:r>
              <a:rPr sz="2250" spc="-5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Project</a:t>
            </a:r>
            <a:r>
              <a:rPr sz="2250" spc="-55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final</a:t>
            </a:r>
            <a:r>
              <a:rPr sz="2250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>
                <a:solidFill>
                  <a:srgbClr val="1E1C11"/>
                </a:solidFill>
                <a:latin typeface="Calibri"/>
                <a:cs typeface="Calibri"/>
              </a:rPr>
              <a:t>report</a:t>
            </a:r>
            <a:r>
              <a:rPr sz="2250" spc="-50">
                <a:solidFill>
                  <a:srgbClr val="1E1C11"/>
                </a:solidFill>
                <a:latin typeface="Calibri"/>
                <a:cs typeface="Calibri"/>
              </a:rPr>
              <a:t> </a:t>
            </a:r>
            <a:r>
              <a:rPr sz="2250" spc="-25">
                <a:solidFill>
                  <a:srgbClr val="1E1C11"/>
                </a:solidFill>
                <a:latin typeface="Calibri"/>
                <a:cs typeface="Calibri"/>
              </a:rPr>
              <a:t>due</a:t>
            </a:r>
            <a:endParaRPr sz="2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1189">
              <a:lnSpc>
                <a:spcPct val="100000"/>
              </a:lnSpc>
              <a:spcBef>
                <a:spcPts val="105"/>
              </a:spcBef>
            </a:pPr>
            <a:r>
              <a:t>Find</a:t>
            </a:r>
            <a:r>
              <a:rPr spc="-50"/>
              <a:t> </a:t>
            </a:r>
            <a:r>
              <a:t>your</a:t>
            </a:r>
            <a:r>
              <a:rPr spc="-80"/>
              <a:t> </a:t>
            </a:r>
            <a:r>
              <a:rPr spc="-10"/>
              <a:t>teammate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F33F3-EC2E-170B-F282-C925E57A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1" y="2667000"/>
            <a:ext cx="10985497" cy="18832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34425" y="4467225"/>
            <a:ext cx="3366135" cy="2298700"/>
            <a:chOff x="8734425" y="4467225"/>
            <a:chExt cx="3366135" cy="2298700"/>
          </a:xfrm>
        </p:grpSpPr>
        <p:pic>
          <p:nvPicPr>
            <p:cNvPr id="3" name="object 3" descr="A close-up of a computer chip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8900" y="5010150"/>
              <a:ext cx="1447800" cy="1362075"/>
            </a:xfrm>
            <a:prstGeom prst="rect">
              <a:avLst/>
            </a:prstGeom>
          </p:spPr>
        </p:pic>
        <p:pic>
          <p:nvPicPr>
            <p:cNvPr id="4" name="object 4" descr="2306c5b904ed498694cd30a3f97e50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4425" y="4467225"/>
              <a:ext cx="1781175" cy="20383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569" y="1384053"/>
            <a:ext cx="7364730" cy="46196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AMD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Ryzen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AI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Neural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Processing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Unit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AMD</a:t>
            </a:r>
            <a:r>
              <a:rPr sz="2400" u="sng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Ryzen</a:t>
            </a:r>
            <a:r>
              <a:rPr sz="2400" u="sng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AI</a:t>
            </a:r>
            <a:r>
              <a:rPr sz="2400" u="sng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NPU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2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Offload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computationally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intensive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from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CPU/GPU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Runs</a:t>
            </a:r>
            <a:r>
              <a:rPr sz="2000" spc="-8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more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power</a:t>
            </a:r>
            <a:r>
              <a:rPr sz="2000" spc="-10">
                <a:latin typeface="Calibri"/>
                <a:cs typeface="Calibri"/>
              </a:rPr>
              <a:t> efficiently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3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Designed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exploit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both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level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task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level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parallelism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Consists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array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compute,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memory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interface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tiles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45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More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architecture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dataflow</a:t>
            </a:r>
            <a:endParaRPr sz="20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505"/>
              </a:spcBef>
              <a:buClr>
                <a:srgbClr val="000000"/>
              </a:buClr>
              <a:buFont typeface="Arial"/>
              <a:buChar char="•"/>
              <a:tabLst>
                <a:tab pos="494665" algn="l"/>
              </a:tabLst>
            </a:pP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https://riallto.ai</a:t>
            </a:r>
            <a:r>
              <a:rPr sz="1800" u="sng" spc="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-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column</a:t>
            </a:r>
            <a:r>
              <a:rPr sz="1800" u="sng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architecture</a:t>
            </a:r>
            <a:endParaRPr sz="18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395"/>
              </a:spcBef>
              <a:buClr>
                <a:srgbClr val="000000"/>
              </a:buClr>
              <a:buFont typeface="Arial"/>
              <a:buChar char="•"/>
              <a:tabLst>
                <a:tab pos="494665" algn="l"/>
              </a:tabLst>
            </a:pP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https://riallto.ai</a:t>
            </a:r>
            <a:r>
              <a:rPr sz="1800" u="sng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-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optimizing</a:t>
            </a:r>
            <a:r>
              <a:rPr sz="18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data</a:t>
            </a:r>
            <a:r>
              <a:rPr sz="1800" u="sng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flow</a:t>
            </a:r>
            <a:endParaRPr sz="1800">
              <a:latin typeface="Calibri"/>
              <a:cs typeface="Calibri"/>
            </a:endParaRPr>
          </a:p>
          <a:p>
            <a:pPr marL="156210" indent="-143510">
              <a:lnSpc>
                <a:spcPct val="100000"/>
              </a:lnSpc>
              <a:spcBef>
                <a:spcPts val="174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Riallto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-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http://www.riallto.ai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2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exploration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software</a:t>
            </a:r>
            <a:r>
              <a:rPr sz="2000" spc="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framework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AMD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Ryzen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NPU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530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Consists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set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open-source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materials</a:t>
            </a:r>
            <a:endParaRPr sz="2000">
              <a:latin typeface="Calibri"/>
              <a:cs typeface="Calibri"/>
            </a:endParaRPr>
          </a:p>
          <a:p>
            <a:pPr marL="494665" lvl="1" indent="-9588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494665" algn="l"/>
              </a:tabLst>
            </a:pPr>
            <a:r>
              <a:rPr sz="1800">
                <a:latin typeface="Calibri"/>
                <a:cs typeface="Calibri"/>
              </a:rPr>
              <a:t>videos,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Jupyter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notebooks,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interactive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demonstrations,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tutorials,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5805">
              <a:lnSpc>
                <a:spcPct val="100000"/>
              </a:lnSpc>
              <a:spcBef>
                <a:spcPts val="105"/>
              </a:spcBef>
            </a:pPr>
            <a:r>
              <a:t>Neural</a:t>
            </a:r>
            <a:r>
              <a:rPr spc="-55"/>
              <a:t> </a:t>
            </a:r>
            <a:r>
              <a:rPr spc="-10"/>
              <a:t>Processing</a:t>
            </a:r>
            <a:r>
              <a:rPr spc="-95"/>
              <a:t> </a:t>
            </a:r>
            <a:r>
              <a:t>Unit</a:t>
            </a:r>
            <a:r>
              <a:rPr spc="-65"/>
              <a:t> </a:t>
            </a:r>
            <a:r>
              <a:rPr spc="-10"/>
              <a:t>(NPU)</a:t>
            </a:r>
          </a:p>
        </p:txBody>
      </p:sp>
      <p:pic>
        <p:nvPicPr>
          <p:cNvPr id="9" name="object 9" descr="A diagram of a computer memory  Description automatically generated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95274" y="1600200"/>
            <a:ext cx="2515725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569" y="1420749"/>
            <a:ext cx="5924550" cy="431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 indent="-143510">
              <a:lnSpc>
                <a:spcPts val="2755"/>
              </a:lnSpc>
              <a:spcBef>
                <a:spcPts val="10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20">
                <a:latin typeface="Calibri"/>
                <a:cs typeface="Calibri"/>
              </a:rPr>
              <a:t>Cluster-</a:t>
            </a:r>
            <a:r>
              <a:rPr sz="2400" spc="-10">
                <a:latin typeface="Calibri"/>
                <a:cs typeface="Calibri"/>
              </a:rPr>
              <a:t>on-</a:t>
            </a:r>
            <a:r>
              <a:rPr sz="2400">
                <a:latin typeface="Calibri"/>
                <a:cs typeface="Calibri"/>
              </a:rPr>
              <a:t>Chip to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accelerate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deep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spc="-10"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  <a:p>
            <a:pPr marL="155575" marR="554355" indent="-143510">
              <a:lnSpc>
                <a:spcPct val="9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400" spc="-20">
                <a:latin typeface="Calibri"/>
                <a:cs typeface="Calibri"/>
              </a:rPr>
              <a:t>Wafer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Scale</a:t>
            </a:r>
            <a:r>
              <a:rPr sz="2400" spc="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Engine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2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(WSE-</a:t>
            </a:r>
            <a:r>
              <a:rPr sz="2400">
                <a:latin typeface="Calibri"/>
                <a:cs typeface="Calibri"/>
              </a:rPr>
              <a:t>2)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processor;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50">
                <a:latin typeface="Calibri"/>
                <a:cs typeface="Calibri"/>
              </a:rPr>
              <a:t>a 	</a:t>
            </a:r>
            <a:r>
              <a:rPr sz="2400">
                <a:latin typeface="Calibri"/>
                <a:cs typeface="Calibri"/>
              </a:rPr>
              <a:t>large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“square”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cut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from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single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wafer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of 	</a:t>
            </a:r>
            <a:r>
              <a:rPr sz="2400" spc="-10">
                <a:latin typeface="Calibri"/>
                <a:cs typeface="Calibri"/>
              </a:rPr>
              <a:t>silicon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755"/>
              </a:lnSpc>
              <a:spcBef>
                <a:spcPts val="275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Wafer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programmed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each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neural</a:t>
            </a:r>
            <a:r>
              <a:rPr sz="2400" spc="-1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spc="-10">
                <a:latin typeface="Calibri"/>
                <a:cs typeface="Calibri"/>
              </a:rPr>
              <a:t>before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training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25">
                <a:latin typeface="Calibri"/>
                <a:cs typeface="Calibri"/>
              </a:rPr>
              <a:t>job</a:t>
            </a:r>
            <a:endParaRPr sz="2400">
              <a:latin typeface="Calibri"/>
              <a:cs typeface="Calibri"/>
            </a:endParaRPr>
          </a:p>
          <a:p>
            <a:pPr marL="155575" marR="541655" indent="-143510">
              <a:lnSpc>
                <a:spcPct val="90000"/>
              </a:lnSpc>
              <a:spcBef>
                <a:spcPts val="560"/>
              </a:spcBef>
              <a:buFont typeface="Arial"/>
              <a:buChar char="•"/>
              <a:tabLst>
                <a:tab pos="156845" algn="l"/>
              </a:tabLst>
            </a:pPr>
            <a:r>
              <a:rPr sz="2400" spc="-35">
                <a:latin typeface="Calibri"/>
                <a:cs typeface="Calibri"/>
              </a:rPr>
              <a:t>PyTorch/TensorFlow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mbria Math"/>
                <a:cs typeface="Cambria Math"/>
              </a:rPr>
              <a:t>→</a:t>
            </a:r>
            <a:r>
              <a:rPr sz="2400" spc="-45">
                <a:latin typeface="Cambria Math"/>
                <a:cs typeface="Cambria Math"/>
              </a:rPr>
              <a:t> </a:t>
            </a:r>
            <a:r>
              <a:rPr sz="2400">
                <a:latin typeface="Calibri"/>
                <a:cs typeface="Calibri"/>
              </a:rPr>
              <a:t>Kernel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Graph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 spc="-50">
                <a:latin typeface="Cambria Math"/>
                <a:cs typeface="Cambria Math"/>
              </a:rPr>
              <a:t>→ 	</a:t>
            </a:r>
            <a:r>
              <a:rPr sz="2400" spc="-10">
                <a:latin typeface="Calibri"/>
                <a:cs typeface="Calibri"/>
              </a:rPr>
              <a:t>Execution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Plan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mbria Math"/>
                <a:cs typeface="Cambria Math"/>
              </a:rPr>
              <a:t>→</a:t>
            </a:r>
            <a:r>
              <a:rPr sz="2400" spc="-35">
                <a:latin typeface="Cambria Math"/>
                <a:cs typeface="Cambria Math"/>
              </a:rPr>
              <a:t> </a:t>
            </a:r>
            <a:r>
              <a:rPr sz="2400" spc="-10">
                <a:latin typeface="Calibri"/>
                <a:cs typeface="Calibri"/>
              </a:rPr>
              <a:t>Executable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(via </a:t>
            </a:r>
            <a:r>
              <a:rPr sz="2400" spc="-10">
                <a:latin typeface="Calibri"/>
                <a:cs typeface="Calibri"/>
              </a:rPr>
              <a:t>Cerebras 	</a:t>
            </a:r>
            <a:r>
              <a:rPr sz="2400">
                <a:latin typeface="Calibri"/>
                <a:cs typeface="Calibri"/>
              </a:rPr>
              <a:t>Graph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Compiler</a:t>
            </a:r>
            <a:r>
              <a:rPr sz="2400" spc="-8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tool)</a:t>
            </a:r>
            <a:endParaRPr sz="2400">
              <a:latin typeface="Calibri"/>
              <a:cs typeface="Calibri"/>
            </a:endParaRPr>
          </a:p>
          <a:p>
            <a:pPr marL="156845" indent="-144145">
              <a:lnSpc>
                <a:spcPts val="2755"/>
              </a:lnSpc>
              <a:spcBef>
                <a:spcPts val="275"/>
              </a:spcBef>
              <a:buClr>
                <a:srgbClr val="000000"/>
              </a:buClr>
              <a:buFont typeface="Arial"/>
              <a:buChar char="•"/>
              <a:tabLst>
                <a:tab pos="156845" algn="l"/>
              </a:tabLst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https://docs.cerebras.net/en/latest/wsc/cereb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55"/>
              </a:lnSpc>
            </a:pP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ras-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basics/how-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cerebras-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works.html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5"/>
              </a:spcBef>
            </a:pPr>
            <a:r>
              <a:t>Cerebras</a:t>
            </a:r>
            <a:r>
              <a:rPr spc="-60"/>
              <a:t> </a:t>
            </a:r>
            <a:r>
              <a:t>CS2:</a:t>
            </a:r>
            <a:r>
              <a:rPr spc="-65"/>
              <a:t> </a:t>
            </a:r>
            <a:r>
              <a:rPr spc="-30"/>
              <a:t>Cluster-</a:t>
            </a:r>
            <a:r>
              <a:rPr spc="-10"/>
              <a:t>on-</a:t>
            </a:r>
            <a:r>
              <a:rPr spc="-20"/>
              <a:t>Chip</a:t>
            </a:r>
          </a:p>
        </p:txBody>
      </p:sp>
      <p:pic>
        <p:nvPicPr>
          <p:cNvPr id="6" name="object 6" descr="A table with numbers and letters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8925" y="4162425"/>
            <a:ext cx="5391150" cy="1793347"/>
          </a:xfrm>
          <a:prstGeom prst="rect">
            <a:avLst/>
          </a:prstGeom>
        </p:spPr>
      </p:pic>
      <p:pic>
        <p:nvPicPr>
          <p:cNvPr id="7" name="object 7" descr="A close-up of a rectangular object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850" y="1590675"/>
            <a:ext cx="3562350" cy="22134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PoPP Tutorial: oneAPI DPC++ Compiler, Runtime, Tools for Efficient  Heterogeneous Computing - SYCL.tech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3425" y="4152900"/>
            <a:ext cx="3619500" cy="23812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>
                <a:latin typeface="Calibri"/>
                <a:cs typeface="Calibri"/>
              </a:rPr>
              <a:t>23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569" y="1391856"/>
            <a:ext cx="7552055" cy="4732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ts val="2755"/>
              </a:lnSpc>
              <a:spcBef>
                <a:spcPts val="100"/>
              </a:spcBef>
              <a:buFont typeface="Arial"/>
              <a:buChar char="•"/>
              <a:tabLst>
                <a:tab pos="156210" algn="l"/>
              </a:tabLst>
            </a:pPr>
            <a:r>
              <a:rPr sz="2400" spc="-10">
                <a:latin typeface="Calibri"/>
                <a:cs typeface="Calibri"/>
              </a:rPr>
              <a:t>Platform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integrating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CPU, GPU</a:t>
            </a:r>
            <a:r>
              <a:rPr sz="2400" b="1" spc="-3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(Intel</a:t>
            </a:r>
            <a:r>
              <a:rPr sz="2400" b="1" spc="-3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Arc</a:t>
            </a:r>
            <a:r>
              <a:rPr sz="2400" b="1" spc="-7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A380E),</a:t>
            </a:r>
            <a:r>
              <a:rPr sz="2400" b="1" spc="-8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and</a:t>
            </a:r>
            <a:r>
              <a:rPr sz="2400" b="1" spc="-60">
                <a:latin typeface="Calibri"/>
                <a:cs typeface="Calibri"/>
              </a:rPr>
              <a:t> </a:t>
            </a:r>
            <a:r>
              <a:rPr sz="2400" b="1" spc="-25">
                <a:latin typeface="Calibri"/>
                <a:cs typeface="Calibri"/>
              </a:rPr>
              <a:t>NPU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640"/>
              </a:lnSpc>
            </a:pPr>
            <a:r>
              <a:rPr sz="2400" b="1">
                <a:latin typeface="Calibri"/>
                <a:cs typeface="Calibri"/>
              </a:rPr>
              <a:t>(Intel</a:t>
            </a:r>
            <a:r>
              <a:rPr sz="2400" b="1" spc="-120">
                <a:latin typeface="Calibri"/>
                <a:cs typeface="Calibri"/>
              </a:rPr>
              <a:t> </a:t>
            </a:r>
            <a:r>
              <a:rPr sz="2400" b="1" spc="-20">
                <a:latin typeface="Calibri"/>
                <a:cs typeface="Calibri"/>
              </a:rPr>
              <a:t>NPU)</a:t>
            </a:r>
            <a:endParaRPr sz="2400">
              <a:latin typeface="Calibri"/>
              <a:cs typeface="Calibri"/>
            </a:endParaRPr>
          </a:p>
          <a:p>
            <a:pPr marL="205104">
              <a:lnSpc>
                <a:spcPts val="2175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Aims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performing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tasks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on-chip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without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server-</a:t>
            </a:r>
            <a:r>
              <a:rPr sz="2000">
                <a:latin typeface="Calibri"/>
                <a:cs typeface="Calibri"/>
              </a:rPr>
              <a:t>side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ts val="2140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>
                <a:latin typeface="Calibri"/>
                <a:cs typeface="Calibri"/>
              </a:rPr>
              <a:t>NPU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efficient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bandwidth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utilization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workloads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326390">
              <a:lnSpc>
                <a:spcPts val="2250"/>
              </a:lnSpc>
            </a:pPr>
            <a:r>
              <a:rPr sz="2000" spc="-10">
                <a:latin typeface="Calibri"/>
                <a:cs typeface="Calibri"/>
              </a:rPr>
              <a:t>comparison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GPUs</a:t>
            </a:r>
            <a:endParaRPr sz="2000">
              <a:latin typeface="Calibri"/>
              <a:cs typeface="Calibri"/>
            </a:endParaRPr>
          </a:p>
          <a:p>
            <a:pPr marL="156210" indent="-143510">
              <a:lnSpc>
                <a:spcPts val="2805"/>
              </a:lnSpc>
              <a:spcBef>
                <a:spcPts val="185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Using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it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for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your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project?</a:t>
            </a:r>
            <a:endParaRPr sz="2400">
              <a:latin typeface="Calibri"/>
              <a:cs typeface="Calibri"/>
            </a:endParaRPr>
          </a:p>
          <a:p>
            <a:pPr marL="326390" marR="367030" indent="-121285">
              <a:lnSpc>
                <a:spcPts val="2100"/>
              </a:lnSpc>
              <a:spcBef>
                <a:spcPts val="24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>
                <a:latin typeface="Calibri"/>
                <a:cs typeface="Calibri"/>
              </a:rPr>
              <a:t>Edge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AI</a:t>
            </a:r>
            <a:r>
              <a:rPr sz="2000" b="1" spc="-50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Performance</a:t>
            </a:r>
            <a:r>
              <a:rPr sz="2000" spc="-10">
                <a:latin typeface="Calibri"/>
                <a:cs typeface="Calibri"/>
              </a:rPr>
              <a:t>: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Develop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AI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models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run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directly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local devices</a:t>
            </a:r>
            <a:endParaRPr sz="2000">
              <a:latin typeface="Calibri"/>
              <a:cs typeface="Calibri"/>
            </a:endParaRPr>
          </a:p>
          <a:p>
            <a:pPr marL="326390" marR="236854" indent="-121285">
              <a:lnSpc>
                <a:spcPts val="2180"/>
              </a:lnSpc>
              <a:spcBef>
                <a:spcPts val="15"/>
              </a:spcBef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 spc="-10">
                <a:latin typeface="Calibri"/>
                <a:cs typeface="Calibri"/>
              </a:rPr>
              <a:t>Parallel</a:t>
            </a:r>
            <a:r>
              <a:rPr sz="2000" b="1" spc="-1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Computing</a:t>
            </a:r>
            <a:r>
              <a:rPr sz="2000" b="1" spc="-9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Flexibility</a:t>
            </a:r>
            <a:r>
              <a:rPr sz="2000">
                <a:latin typeface="Calibri"/>
                <a:cs typeface="Calibri"/>
              </a:rPr>
              <a:t>: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Leverage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task,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data,</a:t>
            </a:r>
            <a:r>
              <a:rPr sz="2000" spc="-8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tensor-level parallelism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efficiency</a:t>
            </a:r>
            <a:endParaRPr sz="2000">
              <a:latin typeface="Calibri"/>
              <a:cs typeface="Calibri"/>
            </a:endParaRPr>
          </a:p>
          <a:p>
            <a:pPr marL="205104">
              <a:lnSpc>
                <a:spcPts val="2030"/>
              </a:lnSpc>
            </a:pPr>
            <a:r>
              <a:rPr sz="2000" spc="-10">
                <a:latin typeface="Arial"/>
                <a:cs typeface="Arial"/>
              </a:rPr>
              <a:t>–</a:t>
            </a:r>
            <a:r>
              <a:rPr sz="2000" b="1">
                <a:latin typeface="Calibri"/>
                <a:cs typeface="Calibri"/>
              </a:rPr>
              <a:t>OneAPI</a:t>
            </a:r>
            <a:r>
              <a:rPr sz="2000" b="1" spc="-45">
                <a:latin typeface="Calibri"/>
                <a:cs typeface="Calibri"/>
              </a:rPr>
              <a:t> </a:t>
            </a:r>
            <a:r>
              <a:rPr sz="2000" b="1" spc="-20">
                <a:latin typeface="Calibri"/>
                <a:cs typeface="Calibri"/>
              </a:rPr>
              <a:t>Toolkit</a:t>
            </a:r>
            <a:r>
              <a:rPr sz="2000" spc="-20">
                <a:latin typeface="Calibri"/>
                <a:cs typeface="Calibri"/>
              </a:rPr>
              <a:t>: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Simplify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development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Intel's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Data</a:t>
            </a:r>
            <a:r>
              <a:rPr sz="2000" b="1" spc="-55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Parallel</a:t>
            </a:r>
            <a:r>
              <a:rPr sz="2000" b="1" spc="-5">
                <a:latin typeface="Calibri"/>
                <a:cs typeface="Calibri"/>
              </a:rPr>
              <a:t> </a:t>
            </a:r>
            <a:r>
              <a:rPr sz="2000" b="1" spc="-25">
                <a:latin typeface="Calibri"/>
                <a:cs typeface="Calibri"/>
              </a:rPr>
              <a:t>C++</a:t>
            </a:r>
            <a:endParaRPr sz="2000">
              <a:latin typeface="Calibri"/>
              <a:cs typeface="Calibri"/>
            </a:endParaRPr>
          </a:p>
          <a:p>
            <a:pPr marL="326390">
              <a:lnSpc>
                <a:spcPts val="2290"/>
              </a:lnSpc>
            </a:pPr>
            <a:r>
              <a:rPr sz="2000" b="1">
                <a:latin typeface="Calibri"/>
                <a:cs typeface="Calibri"/>
              </a:rPr>
              <a:t>(DPC++)</a:t>
            </a:r>
            <a:r>
              <a:rPr sz="2000" b="1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or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extend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familiar </a:t>
            </a:r>
            <a:r>
              <a:rPr sz="2000" spc="-20">
                <a:latin typeface="Calibri"/>
                <a:cs typeface="Calibri"/>
              </a:rPr>
              <a:t>frameworks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like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PyTorch</a:t>
            </a:r>
            <a:endParaRPr sz="2000">
              <a:latin typeface="Calibri"/>
              <a:cs typeface="Calibri"/>
            </a:endParaRPr>
          </a:p>
          <a:p>
            <a:pPr marL="156845" indent="-144145">
              <a:lnSpc>
                <a:spcPts val="2715"/>
              </a:lnSpc>
              <a:spcBef>
                <a:spcPts val="1855"/>
              </a:spcBef>
              <a:buClr>
                <a:srgbClr val="000000"/>
              </a:buClr>
              <a:buFont typeface="Arial"/>
              <a:buChar char="•"/>
              <a:tabLst>
                <a:tab pos="156845" algn="l"/>
              </a:tabLst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https://www.intel.com/content/www/us/en/developer/top</a:t>
            </a:r>
            <a:endParaRPr sz="2400">
              <a:latin typeface="Calibri"/>
              <a:cs typeface="Calibri"/>
            </a:endParaRPr>
          </a:p>
          <a:p>
            <a:pPr marL="156845">
              <a:lnSpc>
                <a:spcPts val="2715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ic-</a:t>
            </a:r>
            <a:r>
              <a:rPr sz="24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technology/ai-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pc/overview.html#gs.dtd1d9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5765" y="6503352"/>
            <a:ext cx="34905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latin typeface="Calibri"/>
                <a:cs typeface="Calibri"/>
              </a:rPr>
              <a:t>This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content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is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protected</a:t>
            </a:r>
            <a:r>
              <a:rPr sz="900" spc="-3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</a:t>
            </a:r>
            <a:r>
              <a:rPr sz="900" spc="-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may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not</a:t>
            </a:r>
            <a:r>
              <a:rPr sz="900" spc="-1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be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shared,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uploaded,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or</a:t>
            </a:r>
            <a:r>
              <a:rPr sz="900" spc="-2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distributed.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0945">
              <a:lnSpc>
                <a:spcPct val="100000"/>
              </a:lnSpc>
              <a:spcBef>
                <a:spcPts val="105"/>
              </a:spcBef>
            </a:pPr>
            <a:r>
              <a:t>Intel</a:t>
            </a:r>
            <a:r>
              <a:rPr spc="-65"/>
              <a:t> </a:t>
            </a:r>
            <a:r>
              <a:t>AI</a:t>
            </a:r>
            <a:r>
              <a:rPr spc="-65"/>
              <a:t> </a:t>
            </a:r>
            <a:r>
              <a:rPr spc="-25"/>
              <a:t>PC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05825" y="1266825"/>
            <a:ext cx="3314700" cy="2562225"/>
            <a:chOff x="8505825" y="1266825"/>
            <a:chExt cx="3314700" cy="2562225"/>
          </a:xfrm>
        </p:grpSpPr>
        <p:pic>
          <p:nvPicPr>
            <p:cNvPr id="8" name="object 8" descr="Intel® Core™ Ultra Processors AI Multi-benefit, 47% OFF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5825" y="1266825"/>
              <a:ext cx="3314700" cy="2562225"/>
            </a:xfrm>
            <a:prstGeom prst="rect">
              <a:avLst/>
            </a:prstGeom>
          </p:spPr>
        </p:pic>
        <p:pic>
          <p:nvPicPr>
            <p:cNvPr id="9" name="object 9" descr="Intel® Core™ Ultra Processors AI Multi-benefit, 47% OFF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53750" y="1343025"/>
              <a:ext cx="790575" cy="962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47564" y="332740"/>
            <a:ext cx="19024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162240"/>
            <a:ext cx="10765155" cy="20764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Graph</a:t>
            </a:r>
            <a:r>
              <a:rPr sz="2400" spc="-10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Datasets:</a:t>
            </a:r>
            <a:r>
              <a:rPr sz="2400" spc="-110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http://snap.stanford.edu/data/index.html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65"/>
              </a:lnSpc>
              <a:spcBef>
                <a:spcPts val="57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Electricity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Consumption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Datasets: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http://www.pjm.com/markets-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and-operations/ops-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65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marL="156210" indent="-143510">
              <a:lnSpc>
                <a:spcPts val="2870"/>
              </a:lnSpc>
              <a:spcBef>
                <a:spcPts val="650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Learning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Datasets: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ts val="2870"/>
              </a:lnSpc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https://en.wikipedia.org/wiki/List_of_datasets_for_machine_learning_research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4601464"/>
            <a:ext cx="8773795" cy="764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56210" algn="l"/>
              </a:tabLst>
            </a:pPr>
            <a:r>
              <a:rPr sz="2400">
                <a:latin typeface="Calibri"/>
                <a:cs typeface="Calibri"/>
              </a:rPr>
              <a:t>Project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Ideas: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https://www.cs.cmu.edu/afs/cs/academic/class/15418-</a:t>
            </a:r>
            <a:endParaRPr sz="2400">
              <a:latin typeface="Calibri"/>
              <a:cs typeface="Calibri"/>
            </a:endParaRPr>
          </a:p>
          <a:p>
            <a:pPr marL="157480">
              <a:lnSpc>
                <a:spcPct val="100000"/>
              </a:lnSpc>
              <a:spcBef>
                <a:spcPts val="50"/>
              </a:spcBef>
            </a:pPr>
            <a:r>
              <a:rPr sz="24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f24/www/projects.html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alibri"/>
                <a:cs typeface="Calibri"/>
              </a:rPr>
              <a:t>47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39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Parallelize</a:t>
            </a:r>
            <a:r>
              <a:rPr spc="-114" dirty="0"/>
              <a:t> </a:t>
            </a:r>
            <a:r>
              <a:rPr spc="-10" dirty="0"/>
              <a:t>Convolutional</a:t>
            </a:r>
            <a:r>
              <a:rPr spc="-75" dirty="0"/>
              <a:t> </a:t>
            </a:r>
            <a:r>
              <a:rPr dirty="0"/>
              <a:t>Neural</a:t>
            </a:r>
            <a:r>
              <a:rPr spc="-130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903" y="1683475"/>
            <a:ext cx="7575619" cy="18899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4088" y="4648200"/>
            <a:ext cx="4268941" cy="17811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39239" y="6476047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4135" y="6476047"/>
            <a:ext cx="506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3844" y="6476682"/>
            <a:ext cx="692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9141" y="4838700"/>
            <a:ext cx="3768013" cy="14749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72790" y="4252531"/>
            <a:ext cx="1176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Convolution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41993" y="4252531"/>
            <a:ext cx="1543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Average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Pooling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alibri"/>
                <a:cs typeface="Calibri"/>
              </a:rPr>
              <a:t>48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Parallelize</a:t>
            </a:r>
            <a:r>
              <a:rPr spc="-105" dirty="0"/>
              <a:t> </a:t>
            </a:r>
            <a:r>
              <a:rPr spc="-10" dirty="0"/>
              <a:t>Convolutional</a:t>
            </a:r>
            <a:r>
              <a:rPr spc="-55" dirty="0"/>
              <a:t> </a:t>
            </a:r>
            <a:r>
              <a:rPr dirty="0"/>
              <a:t>Neural</a:t>
            </a:r>
            <a:r>
              <a:rPr spc="-120" dirty="0"/>
              <a:t> </a:t>
            </a:r>
            <a:r>
              <a:rPr dirty="0"/>
              <a:t>Network:</a:t>
            </a:r>
            <a:r>
              <a:rPr spc="-85" dirty="0"/>
              <a:t> </a:t>
            </a:r>
            <a:r>
              <a:rPr dirty="0"/>
              <a:t>loop</a:t>
            </a:r>
            <a:r>
              <a:rPr spc="-95" dirty="0"/>
              <a:t> </a:t>
            </a:r>
            <a:r>
              <a:rPr spc="-10" dirty="0"/>
              <a:t>parallelism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89678" y="2066925"/>
            <a:ext cx="7576184" cy="3057525"/>
            <a:chOff x="1989678" y="2066925"/>
            <a:chExt cx="7576184" cy="3057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9678" y="2646044"/>
              <a:ext cx="7575619" cy="18984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81550" y="2066925"/>
              <a:ext cx="3590925" cy="3057525"/>
            </a:xfrm>
            <a:custGeom>
              <a:avLst/>
              <a:gdLst/>
              <a:ahLst/>
              <a:cxnLst/>
              <a:rect l="l" t="t" r="r" b="b"/>
              <a:pathLst>
                <a:path w="3590925" h="3057525">
                  <a:moveTo>
                    <a:pt x="0" y="0"/>
                  </a:moveTo>
                  <a:lnTo>
                    <a:pt x="0" y="3057271"/>
                  </a:lnTo>
                </a:path>
                <a:path w="3590925" h="3057525">
                  <a:moveTo>
                    <a:pt x="1276350" y="0"/>
                  </a:moveTo>
                  <a:lnTo>
                    <a:pt x="1276350" y="3057271"/>
                  </a:lnTo>
                </a:path>
                <a:path w="3590925" h="3057525">
                  <a:moveTo>
                    <a:pt x="2457450" y="0"/>
                  </a:moveTo>
                  <a:lnTo>
                    <a:pt x="2457450" y="3057271"/>
                  </a:lnTo>
                </a:path>
                <a:path w="3590925" h="3057525">
                  <a:moveTo>
                    <a:pt x="3590925" y="0"/>
                  </a:moveTo>
                  <a:lnTo>
                    <a:pt x="3590925" y="3057271"/>
                  </a:lnTo>
                </a:path>
              </a:pathLst>
            </a:custGeom>
            <a:ln w="57150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52651" y="5625147"/>
            <a:ext cx="8011159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Pipeline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exploit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parallelism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009" y="6427470"/>
            <a:ext cx="2159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alibri"/>
                <a:cs typeface="Calibri"/>
              </a:rPr>
              <a:t>49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Parallelize</a:t>
            </a:r>
            <a:r>
              <a:rPr spc="-85" dirty="0"/>
              <a:t> </a:t>
            </a:r>
            <a:r>
              <a:rPr spc="-10" dirty="0"/>
              <a:t>Convolutional</a:t>
            </a:r>
            <a:r>
              <a:rPr spc="-40" dirty="0"/>
              <a:t> </a:t>
            </a:r>
            <a:r>
              <a:rPr dirty="0"/>
              <a:t>Neural</a:t>
            </a:r>
            <a:r>
              <a:rPr spc="-105" dirty="0"/>
              <a:t> </a:t>
            </a:r>
            <a:r>
              <a:rPr dirty="0"/>
              <a:t>Network:</a:t>
            </a:r>
            <a:r>
              <a:rPr spc="-65" dirty="0"/>
              <a:t> </a:t>
            </a:r>
            <a:r>
              <a:rPr dirty="0"/>
              <a:t>task</a:t>
            </a:r>
            <a:r>
              <a:rPr spc="-114" dirty="0"/>
              <a:t> </a:t>
            </a:r>
            <a:r>
              <a:rPr spc="-10" dirty="0"/>
              <a:t>parallelism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2371" y="1578700"/>
            <a:ext cx="6389076" cy="15933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68526" y="3764026"/>
            <a:ext cx="1111250" cy="368300"/>
            <a:chOff x="1668526" y="3764026"/>
            <a:chExt cx="1111250" cy="368300"/>
          </a:xfrm>
        </p:grpSpPr>
        <p:sp>
          <p:nvSpPr>
            <p:cNvPr id="6" name="object 6"/>
            <p:cNvSpPr/>
            <p:nvPr/>
          </p:nvSpPr>
          <p:spPr>
            <a:xfrm>
              <a:off x="1681226" y="377672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81226" y="377672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50085" y="3804856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78201" y="3764026"/>
            <a:ext cx="1101725" cy="368300"/>
            <a:chOff x="2878201" y="3764026"/>
            <a:chExt cx="1101725" cy="368300"/>
          </a:xfrm>
        </p:grpSpPr>
        <p:sp>
          <p:nvSpPr>
            <p:cNvPr id="10" name="object 10"/>
            <p:cNvSpPr/>
            <p:nvPr/>
          </p:nvSpPr>
          <p:spPr>
            <a:xfrm>
              <a:off x="2890901" y="377672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90901" y="377672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31235" y="3804856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78351" y="3764026"/>
            <a:ext cx="1111250" cy="368300"/>
            <a:chOff x="4078351" y="3764026"/>
            <a:chExt cx="1111250" cy="368300"/>
          </a:xfrm>
        </p:grpSpPr>
        <p:sp>
          <p:nvSpPr>
            <p:cNvPr id="14" name="object 14"/>
            <p:cNvSpPr/>
            <p:nvPr/>
          </p:nvSpPr>
          <p:spPr>
            <a:xfrm>
              <a:off x="4091051" y="377672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91051" y="377672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62450" y="3804856"/>
            <a:ext cx="5378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88026" y="3764026"/>
            <a:ext cx="1101725" cy="368300"/>
            <a:chOff x="5288026" y="3764026"/>
            <a:chExt cx="1101725" cy="368300"/>
          </a:xfrm>
        </p:grpSpPr>
        <p:sp>
          <p:nvSpPr>
            <p:cNvPr id="18" name="object 18"/>
            <p:cNvSpPr/>
            <p:nvPr/>
          </p:nvSpPr>
          <p:spPr>
            <a:xfrm>
              <a:off x="5300726" y="377672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00726" y="377672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43854" y="3804856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00876" y="3776726"/>
            <a:ext cx="1085850" cy="342900"/>
          </a:xfrm>
          <a:custGeom>
            <a:avLst/>
            <a:gdLst/>
            <a:ahLst/>
            <a:cxnLst/>
            <a:rect l="l" t="t" r="r" b="b"/>
            <a:pathLst>
              <a:path w="1085850" h="342900">
                <a:moveTo>
                  <a:pt x="0" y="57150"/>
                </a:moveTo>
                <a:lnTo>
                  <a:pt x="4482" y="34879"/>
                </a:lnTo>
                <a:lnTo>
                  <a:pt x="16716" y="16716"/>
                </a:lnTo>
                <a:lnTo>
                  <a:pt x="34879" y="4482"/>
                </a:lnTo>
                <a:lnTo>
                  <a:pt x="57150" y="0"/>
                </a:lnTo>
                <a:lnTo>
                  <a:pt x="1028573" y="0"/>
                </a:lnTo>
                <a:lnTo>
                  <a:pt x="1050863" y="4482"/>
                </a:lnTo>
                <a:lnTo>
                  <a:pt x="1069070" y="16716"/>
                </a:lnTo>
                <a:lnTo>
                  <a:pt x="1081347" y="34879"/>
                </a:lnTo>
                <a:lnTo>
                  <a:pt x="1085850" y="57150"/>
                </a:lnTo>
                <a:lnTo>
                  <a:pt x="1085850" y="285750"/>
                </a:lnTo>
                <a:lnTo>
                  <a:pt x="1081347" y="307967"/>
                </a:lnTo>
                <a:lnTo>
                  <a:pt x="1069070" y="326136"/>
                </a:lnTo>
                <a:lnTo>
                  <a:pt x="1050863" y="338399"/>
                </a:lnTo>
                <a:lnTo>
                  <a:pt x="1028573" y="342900"/>
                </a:lnTo>
                <a:lnTo>
                  <a:pt x="57150" y="342900"/>
                </a:lnTo>
                <a:lnTo>
                  <a:pt x="34879" y="338399"/>
                </a:lnTo>
                <a:lnTo>
                  <a:pt x="16716" y="326136"/>
                </a:lnTo>
                <a:lnTo>
                  <a:pt x="4482" y="307967"/>
                </a:lnTo>
                <a:lnTo>
                  <a:pt x="0" y="285750"/>
                </a:lnTo>
                <a:lnTo>
                  <a:pt x="0" y="571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32294" y="3804856"/>
            <a:ext cx="2311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libri"/>
                <a:cs typeface="Calibri"/>
              </a:rPr>
              <a:t>FC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78201" y="4287901"/>
            <a:ext cx="1101725" cy="368300"/>
            <a:chOff x="2878201" y="4287901"/>
            <a:chExt cx="1101725" cy="368300"/>
          </a:xfrm>
        </p:grpSpPr>
        <p:sp>
          <p:nvSpPr>
            <p:cNvPr id="24" name="object 24"/>
            <p:cNvSpPr/>
            <p:nvPr/>
          </p:nvSpPr>
          <p:spPr>
            <a:xfrm>
              <a:off x="2890901" y="430060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90901" y="430060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156330" y="4330128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78351" y="4287901"/>
            <a:ext cx="1111250" cy="368300"/>
            <a:chOff x="4078351" y="4287901"/>
            <a:chExt cx="1111250" cy="368300"/>
          </a:xfrm>
        </p:grpSpPr>
        <p:sp>
          <p:nvSpPr>
            <p:cNvPr id="28" name="object 28"/>
            <p:cNvSpPr/>
            <p:nvPr/>
          </p:nvSpPr>
          <p:spPr>
            <a:xfrm>
              <a:off x="4091051" y="430060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91051" y="430060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37354" y="4330128"/>
            <a:ext cx="7854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288026" y="4287901"/>
            <a:ext cx="1101725" cy="368300"/>
            <a:chOff x="5288026" y="4287901"/>
            <a:chExt cx="1101725" cy="368300"/>
          </a:xfrm>
        </p:grpSpPr>
        <p:sp>
          <p:nvSpPr>
            <p:cNvPr id="32" name="object 32"/>
            <p:cNvSpPr/>
            <p:nvPr/>
          </p:nvSpPr>
          <p:spPr>
            <a:xfrm>
              <a:off x="5300726" y="430060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00726" y="430060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68950" y="4330128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88176" y="4287901"/>
            <a:ext cx="1111250" cy="368300"/>
            <a:chOff x="6488176" y="4287901"/>
            <a:chExt cx="1111250" cy="368300"/>
          </a:xfrm>
        </p:grpSpPr>
        <p:sp>
          <p:nvSpPr>
            <p:cNvPr id="36" name="object 36"/>
            <p:cNvSpPr/>
            <p:nvPr/>
          </p:nvSpPr>
          <p:spPr>
            <a:xfrm>
              <a:off x="6500876" y="430060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00876" y="430060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50101" y="4330128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710551" y="4300601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0" y="57150"/>
                </a:moveTo>
                <a:lnTo>
                  <a:pt x="4482" y="34879"/>
                </a:lnTo>
                <a:lnTo>
                  <a:pt x="16716" y="16716"/>
                </a:lnTo>
                <a:lnTo>
                  <a:pt x="34879" y="4482"/>
                </a:lnTo>
                <a:lnTo>
                  <a:pt x="57150" y="0"/>
                </a:lnTo>
                <a:lnTo>
                  <a:pt x="1019048" y="0"/>
                </a:lnTo>
                <a:lnTo>
                  <a:pt x="1041338" y="4482"/>
                </a:lnTo>
                <a:lnTo>
                  <a:pt x="1059545" y="16716"/>
                </a:lnTo>
                <a:lnTo>
                  <a:pt x="1071822" y="34879"/>
                </a:lnTo>
                <a:lnTo>
                  <a:pt x="1076325" y="57150"/>
                </a:lnTo>
                <a:lnTo>
                  <a:pt x="1076325" y="285623"/>
                </a:lnTo>
                <a:lnTo>
                  <a:pt x="1071822" y="307913"/>
                </a:lnTo>
                <a:lnTo>
                  <a:pt x="1059545" y="326120"/>
                </a:lnTo>
                <a:lnTo>
                  <a:pt x="1041338" y="338397"/>
                </a:lnTo>
                <a:lnTo>
                  <a:pt x="1019048" y="342900"/>
                </a:lnTo>
                <a:lnTo>
                  <a:pt x="57150" y="342900"/>
                </a:lnTo>
                <a:lnTo>
                  <a:pt x="34879" y="338397"/>
                </a:lnTo>
                <a:lnTo>
                  <a:pt x="16716" y="326120"/>
                </a:lnTo>
                <a:lnTo>
                  <a:pt x="4482" y="307913"/>
                </a:lnTo>
                <a:lnTo>
                  <a:pt x="0" y="285623"/>
                </a:lnTo>
                <a:lnTo>
                  <a:pt x="0" y="571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138541" y="4330128"/>
            <a:ext cx="2317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libri"/>
                <a:cs typeface="Calibri"/>
              </a:rPr>
              <a:t>FC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78351" y="4811776"/>
            <a:ext cx="1111250" cy="368300"/>
            <a:chOff x="4078351" y="4811776"/>
            <a:chExt cx="1111250" cy="368300"/>
          </a:xfrm>
        </p:grpSpPr>
        <p:sp>
          <p:nvSpPr>
            <p:cNvPr id="42" name="object 42"/>
            <p:cNvSpPr/>
            <p:nvPr/>
          </p:nvSpPr>
          <p:spPr>
            <a:xfrm>
              <a:off x="4091051" y="482447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91051" y="482447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362450" y="4855273"/>
            <a:ext cx="5378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288026" y="4811776"/>
            <a:ext cx="1101725" cy="368300"/>
            <a:chOff x="5288026" y="4811776"/>
            <a:chExt cx="1101725" cy="368300"/>
          </a:xfrm>
        </p:grpSpPr>
        <p:sp>
          <p:nvSpPr>
            <p:cNvPr id="46" name="object 46"/>
            <p:cNvSpPr/>
            <p:nvPr/>
          </p:nvSpPr>
          <p:spPr>
            <a:xfrm>
              <a:off x="5300726" y="482447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00726" y="482447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443854" y="4855273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488176" y="4811776"/>
            <a:ext cx="1111250" cy="368300"/>
            <a:chOff x="6488176" y="4811776"/>
            <a:chExt cx="1111250" cy="368300"/>
          </a:xfrm>
        </p:grpSpPr>
        <p:sp>
          <p:nvSpPr>
            <p:cNvPr id="50" name="object 50"/>
            <p:cNvSpPr/>
            <p:nvPr/>
          </p:nvSpPr>
          <p:spPr>
            <a:xfrm>
              <a:off x="6500876" y="482447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67"/>
                  </a:lnTo>
                  <a:lnTo>
                    <a:pt x="16716" y="326136"/>
                  </a:lnTo>
                  <a:lnTo>
                    <a:pt x="34879" y="338399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399"/>
                  </a:lnTo>
                  <a:lnTo>
                    <a:pt x="1069070" y="326136"/>
                  </a:lnTo>
                  <a:lnTo>
                    <a:pt x="1081347" y="307967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00876" y="4824476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67"/>
                  </a:lnTo>
                  <a:lnTo>
                    <a:pt x="1069070" y="326136"/>
                  </a:lnTo>
                  <a:lnTo>
                    <a:pt x="1050863" y="338399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399"/>
                  </a:lnTo>
                  <a:lnTo>
                    <a:pt x="16716" y="326136"/>
                  </a:lnTo>
                  <a:lnTo>
                    <a:pt x="4482" y="307967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775195" y="4855273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697851" y="4811776"/>
            <a:ext cx="1101725" cy="368300"/>
            <a:chOff x="7697851" y="4811776"/>
            <a:chExt cx="1101725" cy="368300"/>
          </a:xfrm>
        </p:grpSpPr>
        <p:sp>
          <p:nvSpPr>
            <p:cNvPr id="54" name="object 54"/>
            <p:cNvSpPr/>
            <p:nvPr/>
          </p:nvSpPr>
          <p:spPr>
            <a:xfrm>
              <a:off x="7710551" y="482447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82" y="307913"/>
                  </a:lnTo>
                  <a:lnTo>
                    <a:pt x="16716" y="326120"/>
                  </a:lnTo>
                  <a:lnTo>
                    <a:pt x="34879" y="338397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397"/>
                  </a:lnTo>
                  <a:lnTo>
                    <a:pt x="1059545" y="326120"/>
                  </a:lnTo>
                  <a:lnTo>
                    <a:pt x="1071822" y="307913"/>
                  </a:lnTo>
                  <a:lnTo>
                    <a:pt x="1076325" y="285623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10551" y="4824476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23"/>
                  </a:lnTo>
                  <a:lnTo>
                    <a:pt x="1071822" y="307913"/>
                  </a:lnTo>
                  <a:lnTo>
                    <a:pt x="1059545" y="326120"/>
                  </a:lnTo>
                  <a:lnTo>
                    <a:pt x="1041338" y="338397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397"/>
                  </a:lnTo>
                  <a:lnTo>
                    <a:pt x="16716" y="326120"/>
                  </a:lnTo>
                  <a:lnTo>
                    <a:pt x="4482" y="307913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856219" y="4855273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920226" y="4824476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0" y="57150"/>
                </a:moveTo>
                <a:lnTo>
                  <a:pt x="4482" y="34879"/>
                </a:lnTo>
                <a:lnTo>
                  <a:pt x="16716" y="16716"/>
                </a:lnTo>
                <a:lnTo>
                  <a:pt x="34879" y="4482"/>
                </a:lnTo>
                <a:lnTo>
                  <a:pt x="57150" y="0"/>
                </a:lnTo>
                <a:lnTo>
                  <a:pt x="1019048" y="0"/>
                </a:lnTo>
                <a:lnTo>
                  <a:pt x="1041338" y="4482"/>
                </a:lnTo>
                <a:lnTo>
                  <a:pt x="1059545" y="16716"/>
                </a:lnTo>
                <a:lnTo>
                  <a:pt x="1071822" y="34879"/>
                </a:lnTo>
                <a:lnTo>
                  <a:pt x="1076325" y="57150"/>
                </a:lnTo>
                <a:lnTo>
                  <a:pt x="1076325" y="285623"/>
                </a:lnTo>
                <a:lnTo>
                  <a:pt x="1071822" y="307913"/>
                </a:lnTo>
                <a:lnTo>
                  <a:pt x="1059545" y="326120"/>
                </a:lnTo>
                <a:lnTo>
                  <a:pt x="1041338" y="338397"/>
                </a:lnTo>
                <a:lnTo>
                  <a:pt x="1019048" y="342900"/>
                </a:lnTo>
                <a:lnTo>
                  <a:pt x="57150" y="342900"/>
                </a:lnTo>
                <a:lnTo>
                  <a:pt x="34879" y="338397"/>
                </a:lnTo>
                <a:lnTo>
                  <a:pt x="16716" y="326120"/>
                </a:lnTo>
                <a:lnTo>
                  <a:pt x="4482" y="307913"/>
                </a:lnTo>
                <a:lnTo>
                  <a:pt x="0" y="285623"/>
                </a:lnTo>
                <a:lnTo>
                  <a:pt x="0" y="571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9345041" y="4855273"/>
            <a:ext cx="2311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libri"/>
                <a:cs typeface="Calibri"/>
              </a:rPr>
              <a:t>FC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288026" y="5335651"/>
            <a:ext cx="1101725" cy="368300"/>
            <a:chOff x="5288026" y="5335651"/>
            <a:chExt cx="1101725" cy="368300"/>
          </a:xfrm>
        </p:grpSpPr>
        <p:sp>
          <p:nvSpPr>
            <p:cNvPr id="60" name="object 60"/>
            <p:cNvSpPr/>
            <p:nvPr/>
          </p:nvSpPr>
          <p:spPr>
            <a:xfrm>
              <a:off x="5300726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86"/>
                  </a:lnTo>
                  <a:lnTo>
                    <a:pt x="4482" y="307930"/>
                  </a:lnTo>
                  <a:lnTo>
                    <a:pt x="16716" y="326096"/>
                  </a:lnTo>
                  <a:lnTo>
                    <a:pt x="34879" y="338344"/>
                  </a:lnTo>
                  <a:lnTo>
                    <a:pt x="57150" y="342836"/>
                  </a:lnTo>
                  <a:lnTo>
                    <a:pt x="1019048" y="342836"/>
                  </a:lnTo>
                  <a:lnTo>
                    <a:pt x="1041338" y="338344"/>
                  </a:lnTo>
                  <a:lnTo>
                    <a:pt x="1059545" y="326096"/>
                  </a:lnTo>
                  <a:lnTo>
                    <a:pt x="1071822" y="307930"/>
                  </a:lnTo>
                  <a:lnTo>
                    <a:pt x="1076325" y="285686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00726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86"/>
                  </a:lnTo>
                  <a:lnTo>
                    <a:pt x="1071822" y="307930"/>
                  </a:lnTo>
                  <a:lnTo>
                    <a:pt x="1059545" y="326096"/>
                  </a:lnTo>
                  <a:lnTo>
                    <a:pt x="1041338" y="338344"/>
                  </a:lnTo>
                  <a:lnTo>
                    <a:pt x="1019048" y="342836"/>
                  </a:lnTo>
                  <a:lnTo>
                    <a:pt x="57150" y="342836"/>
                  </a:lnTo>
                  <a:lnTo>
                    <a:pt x="34879" y="338344"/>
                  </a:lnTo>
                  <a:lnTo>
                    <a:pt x="16716" y="326096"/>
                  </a:lnTo>
                  <a:lnTo>
                    <a:pt x="4482" y="307930"/>
                  </a:lnTo>
                  <a:lnTo>
                    <a:pt x="0" y="285686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568950" y="5380354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488176" y="5335651"/>
            <a:ext cx="1111250" cy="368300"/>
            <a:chOff x="6488176" y="5335651"/>
            <a:chExt cx="1111250" cy="368300"/>
          </a:xfrm>
        </p:grpSpPr>
        <p:sp>
          <p:nvSpPr>
            <p:cNvPr id="64" name="object 64"/>
            <p:cNvSpPr/>
            <p:nvPr/>
          </p:nvSpPr>
          <p:spPr>
            <a:xfrm>
              <a:off x="6500876" y="534835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86"/>
                  </a:lnTo>
                  <a:lnTo>
                    <a:pt x="4482" y="307930"/>
                  </a:lnTo>
                  <a:lnTo>
                    <a:pt x="16716" y="326096"/>
                  </a:lnTo>
                  <a:lnTo>
                    <a:pt x="34879" y="338344"/>
                  </a:lnTo>
                  <a:lnTo>
                    <a:pt x="57150" y="342836"/>
                  </a:lnTo>
                  <a:lnTo>
                    <a:pt x="1028573" y="342836"/>
                  </a:lnTo>
                  <a:lnTo>
                    <a:pt x="1050863" y="338344"/>
                  </a:lnTo>
                  <a:lnTo>
                    <a:pt x="1069070" y="326096"/>
                  </a:lnTo>
                  <a:lnTo>
                    <a:pt x="1081347" y="307930"/>
                  </a:lnTo>
                  <a:lnTo>
                    <a:pt x="1085850" y="285686"/>
                  </a:lnTo>
                  <a:lnTo>
                    <a:pt x="1085850" y="57150"/>
                  </a:lnTo>
                  <a:lnTo>
                    <a:pt x="1081347" y="34879"/>
                  </a:lnTo>
                  <a:lnTo>
                    <a:pt x="1069070" y="16716"/>
                  </a:lnTo>
                  <a:lnTo>
                    <a:pt x="1050863" y="4482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00876" y="5348351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82"/>
                  </a:lnTo>
                  <a:lnTo>
                    <a:pt x="1069070" y="16716"/>
                  </a:lnTo>
                  <a:lnTo>
                    <a:pt x="1081347" y="34879"/>
                  </a:lnTo>
                  <a:lnTo>
                    <a:pt x="1085850" y="57150"/>
                  </a:lnTo>
                  <a:lnTo>
                    <a:pt x="1085850" y="285686"/>
                  </a:lnTo>
                  <a:lnTo>
                    <a:pt x="1081347" y="307930"/>
                  </a:lnTo>
                  <a:lnTo>
                    <a:pt x="1069070" y="326096"/>
                  </a:lnTo>
                  <a:lnTo>
                    <a:pt x="1050863" y="338344"/>
                  </a:lnTo>
                  <a:lnTo>
                    <a:pt x="1028573" y="342836"/>
                  </a:lnTo>
                  <a:lnTo>
                    <a:pt x="57150" y="342836"/>
                  </a:lnTo>
                  <a:lnTo>
                    <a:pt x="34879" y="338344"/>
                  </a:lnTo>
                  <a:lnTo>
                    <a:pt x="16716" y="326096"/>
                  </a:lnTo>
                  <a:lnTo>
                    <a:pt x="4482" y="307930"/>
                  </a:lnTo>
                  <a:lnTo>
                    <a:pt x="0" y="285686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650101" y="5380354"/>
            <a:ext cx="7842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697851" y="5335651"/>
            <a:ext cx="1101725" cy="368300"/>
            <a:chOff x="7697851" y="5335651"/>
            <a:chExt cx="1101725" cy="368300"/>
          </a:xfrm>
        </p:grpSpPr>
        <p:sp>
          <p:nvSpPr>
            <p:cNvPr id="68" name="object 68"/>
            <p:cNvSpPr/>
            <p:nvPr/>
          </p:nvSpPr>
          <p:spPr>
            <a:xfrm>
              <a:off x="7710551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86"/>
                  </a:lnTo>
                  <a:lnTo>
                    <a:pt x="4482" y="307930"/>
                  </a:lnTo>
                  <a:lnTo>
                    <a:pt x="16716" y="326096"/>
                  </a:lnTo>
                  <a:lnTo>
                    <a:pt x="34879" y="338344"/>
                  </a:lnTo>
                  <a:lnTo>
                    <a:pt x="57150" y="342836"/>
                  </a:lnTo>
                  <a:lnTo>
                    <a:pt x="1019048" y="342836"/>
                  </a:lnTo>
                  <a:lnTo>
                    <a:pt x="1041338" y="338344"/>
                  </a:lnTo>
                  <a:lnTo>
                    <a:pt x="1059545" y="326096"/>
                  </a:lnTo>
                  <a:lnTo>
                    <a:pt x="1071822" y="307930"/>
                  </a:lnTo>
                  <a:lnTo>
                    <a:pt x="1076325" y="285686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710551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86"/>
                  </a:lnTo>
                  <a:lnTo>
                    <a:pt x="1071822" y="307930"/>
                  </a:lnTo>
                  <a:lnTo>
                    <a:pt x="1059545" y="326096"/>
                  </a:lnTo>
                  <a:lnTo>
                    <a:pt x="1041338" y="338344"/>
                  </a:lnTo>
                  <a:lnTo>
                    <a:pt x="1019048" y="342836"/>
                  </a:lnTo>
                  <a:lnTo>
                    <a:pt x="57150" y="342836"/>
                  </a:lnTo>
                  <a:lnTo>
                    <a:pt x="34879" y="338344"/>
                  </a:lnTo>
                  <a:lnTo>
                    <a:pt x="16716" y="326096"/>
                  </a:lnTo>
                  <a:lnTo>
                    <a:pt x="4482" y="307930"/>
                  </a:lnTo>
                  <a:lnTo>
                    <a:pt x="0" y="285686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981315" y="5380354"/>
            <a:ext cx="536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907526" y="5335651"/>
            <a:ext cx="1101725" cy="368300"/>
            <a:chOff x="8907526" y="5335651"/>
            <a:chExt cx="1101725" cy="368300"/>
          </a:xfrm>
        </p:grpSpPr>
        <p:sp>
          <p:nvSpPr>
            <p:cNvPr id="72" name="object 72"/>
            <p:cNvSpPr/>
            <p:nvPr/>
          </p:nvSpPr>
          <p:spPr>
            <a:xfrm>
              <a:off x="8920226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82"/>
                  </a:lnTo>
                  <a:lnTo>
                    <a:pt x="16716" y="16716"/>
                  </a:lnTo>
                  <a:lnTo>
                    <a:pt x="4482" y="34879"/>
                  </a:lnTo>
                  <a:lnTo>
                    <a:pt x="0" y="57150"/>
                  </a:lnTo>
                  <a:lnTo>
                    <a:pt x="0" y="285686"/>
                  </a:lnTo>
                  <a:lnTo>
                    <a:pt x="4482" y="307930"/>
                  </a:lnTo>
                  <a:lnTo>
                    <a:pt x="16716" y="326096"/>
                  </a:lnTo>
                  <a:lnTo>
                    <a:pt x="34879" y="338344"/>
                  </a:lnTo>
                  <a:lnTo>
                    <a:pt x="57150" y="342836"/>
                  </a:lnTo>
                  <a:lnTo>
                    <a:pt x="1019048" y="342836"/>
                  </a:lnTo>
                  <a:lnTo>
                    <a:pt x="1041338" y="338344"/>
                  </a:lnTo>
                  <a:lnTo>
                    <a:pt x="1059545" y="326096"/>
                  </a:lnTo>
                  <a:lnTo>
                    <a:pt x="1071822" y="307930"/>
                  </a:lnTo>
                  <a:lnTo>
                    <a:pt x="1076325" y="285686"/>
                  </a:lnTo>
                  <a:lnTo>
                    <a:pt x="1076325" y="57150"/>
                  </a:lnTo>
                  <a:lnTo>
                    <a:pt x="1071822" y="34879"/>
                  </a:lnTo>
                  <a:lnTo>
                    <a:pt x="1059545" y="16716"/>
                  </a:lnTo>
                  <a:lnTo>
                    <a:pt x="1041338" y="4482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920226" y="5348351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879"/>
                  </a:lnTo>
                  <a:lnTo>
                    <a:pt x="16716" y="16716"/>
                  </a:lnTo>
                  <a:lnTo>
                    <a:pt x="34879" y="4482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82"/>
                  </a:lnTo>
                  <a:lnTo>
                    <a:pt x="1059545" y="16716"/>
                  </a:lnTo>
                  <a:lnTo>
                    <a:pt x="1071822" y="34879"/>
                  </a:lnTo>
                  <a:lnTo>
                    <a:pt x="1076325" y="57150"/>
                  </a:lnTo>
                  <a:lnTo>
                    <a:pt x="1076325" y="285686"/>
                  </a:lnTo>
                  <a:lnTo>
                    <a:pt x="1071822" y="307930"/>
                  </a:lnTo>
                  <a:lnTo>
                    <a:pt x="1059545" y="326096"/>
                  </a:lnTo>
                  <a:lnTo>
                    <a:pt x="1041338" y="338344"/>
                  </a:lnTo>
                  <a:lnTo>
                    <a:pt x="1019048" y="342836"/>
                  </a:lnTo>
                  <a:lnTo>
                    <a:pt x="57150" y="342836"/>
                  </a:lnTo>
                  <a:lnTo>
                    <a:pt x="34879" y="338344"/>
                  </a:lnTo>
                  <a:lnTo>
                    <a:pt x="16716" y="326096"/>
                  </a:lnTo>
                  <a:lnTo>
                    <a:pt x="4482" y="307930"/>
                  </a:lnTo>
                  <a:lnTo>
                    <a:pt x="0" y="285686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9062466" y="5380354"/>
            <a:ext cx="7861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120376" y="5348351"/>
            <a:ext cx="1076325" cy="342900"/>
          </a:xfrm>
          <a:custGeom>
            <a:avLst/>
            <a:gdLst/>
            <a:ahLst/>
            <a:cxnLst/>
            <a:rect l="l" t="t" r="r" b="b"/>
            <a:pathLst>
              <a:path w="1076325" h="342900">
                <a:moveTo>
                  <a:pt x="0" y="57150"/>
                </a:moveTo>
                <a:lnTo>
                  <a:pt x="4482" y="34879"/>
                </a:lnTo>
                <a:lnTo>
                  <a:pt x="16716" y="16716"/>
                </a:lnTo>
                <a:lnTo>
                  <a:pt x="34879" y="4482"/>
                </a:lnTo>
                <a:lnTo>
                  <a:pt x="57150" y="0"/>
                </a:lnTo>
                <a:lnTo>
                  <a:pt x="1019048" y="0"/>
                </a:lnTo>
                <a:lnTo>
                  <a:pt x="1041338" y="4482"/>
                </a:lnTo>
                <a:lnTo>
                  <a:pt x="1059545" y="16716"/>
                </a:lnTo>
                <a:lnTo>
                  <a:pt x="1071822" y="34879"/>
                </a:lnTo>
                <a:lnTo>
                  <a:pt x="1076325" y="57150"/>
                </a:lnTo>
                <a:lnTo>
                  <a:pt x="1076325" y="285686"/>
                </a:lnTo>
                <a:lnTo>
                  <a:pt x="1071822" y="307930"/>
                </a:lnTo>
                <a:lnTo>
                  <a:pt x="1059545" y="326096"/>
                </a:lnTo>
                <a:lnTo>
                  <a:pt x="1041338" y="338344"/>
                </a:lnTo>
                <a:lnTo>
                  <a:pt x="1019048" y="342836"/>
                </a:lnTo>
                <a:lnTo>
                  <a:pt x="57150" y="342836"/>
                </a:lnTo>
                <a:lnTo>
                  <a:pt x="34879" y="338344"/>
                </a:lnTo>
                <a:lnTo>
                  <a:pt x="16716" y="326096"/>
                </a:lnTo>
                <a:lnTo>
                  <a:pt x="4482" y="307930"/>
                </a:lnTo>
                <a:lnTo>
                  <a:pt x="0" y="285686"/>
                </a:lnTo>
                <a:lnTo>
                  <a:pt x="0" y="571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0551159" y="5380354"/>
            <a:ext cx="2311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libri"/>
                <a:cs typeface="Calibri"/>
              </a:rPr>
              <a:t>FC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23252" y="3064446"/>
            <a:ext cx="59626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latin typeface="Calibri"/>
                <a:cs typeface="Calibri"/>
              </a:rPr>
              <a:t>Input 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97865" y="4303331"/>
            <a:ext cx="264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i-</a:t>
            </a: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97865" y="4842192"/>
            <a:ext cx="264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i-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97865" y="5370829"/>
            <a:ext cx="264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i-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91527" y="5899467"/>
            <a:ext cx="78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942975" y="3524313"/>
            <a:ext cx="6725284" cy="2828925"/>
            <a:chOff x="942975" y="3524313"/>
            <a:chExt cx="6725284" cy="2828925"/>
          </a:xfrm>
        </p:grpSpPr>
        <p:sp>
          <p:nvSpPr>
            <p:cNvPr id="83" name="object 83"/>
            <p:cNvSpPr/>
            <p:nvPr/>
          </p:nvSpPr>
          <p:spPr>
            <a:xfrm>
              <a:off x="1052512" y="4472051"/>
              <a:ext cx="1840864" cy="0"/>
            </a:xfrm>
            <a:custGeom>
              <a:avLst/>
              <a:gdLst/>
              <a:ahLst/>
              <a:cxnLst/>
              <a:rect l="l" t="t" r="r" b="b"/>
              <a:pathLst>
                <a:path w="1840864">
                  <a:moveTo>
                    <a:pt x="0" y="0"/>
                  </a:moveTo>
                  <a:lnTo>
                    <a:pt x="1728787" y="0"/>
                  </a:lnTo>
                </a:path>
                <a:path w="1840864">
                  <a:moveTo>
                    <a:pt x="1785937" y="0"/>
                  </a:moveTo>
                  <a:lnTo>
                    <a:pt x="1840293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038225" y="5002657"/>
              <a:ext cx="3074670" cy="0"/>
            </a:xfrm>
            <a:custGeom>
              <a:avLst/>
              <a:gdLst/>
              <a:ahLst/>
              <a:cxnLst/>
              <a:rect l="l" t="t" r="r" b="b"/>
              <a:pathLst>
                <a:path w="3074670">
                  <a:moveTo>
                    <a:pt x="1800225" y="0"/>
                  </a:moveTo>
                  <a:lnTo>
                    <a:pt x="2962275" y="0"/>
                  </a:lnTo>
                </a:path>
                <a:path w="3074670">
                  <a:moveTo>
                    <a:pt x="3019425" y="0"/>
                  </a:moveTo>
                  <a:lnTo>
                    <a:pt x="3074225" y="0"/>
                  </a:lnTo>
                </a:path>
                <a:path w="3074670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ln w="4229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038225" y="5528310"/>
              <a:ext cx="4279900" cy="0"/>
            </a:xfrm>
            <a:custGeom>
              <a:avLst/>
              <a:gdLst/>
              <a:ahLst/>
              <a:cxnLst/>
              <a:rect l="l" t="t" r="r" b="b"/>
              <a:pathLst>
                <a:path w="4279900">
                  <a:moveTo>
                    <a:pt x="4229100" y="0"/>
                  </a:moveTo>
                  <a:lnTo>
                    <a:pt x="4279582" y="0"/>
                  </a:lnTo>
                </a:path>
                <a:path w="4279900">
                  <a:moveTo>
                    <a:pt x="3019425" y="0"/>
                  </a:moveTo>
                  <a:lnTo>
                    <a:pt x="4171950" y="0"/>
                  </a:lnTo>
                </a:path>
                <a:path w="4279900">
                  <a:moveTo>
                    <a:pt x="1800225" y="0"/>
                  </a:moveTo>
                  <a:lnTo>
                    <a:pt x="2962275" y="0"/>
                  </a:lnTo>
                </a:path>
                <a:path w="4279900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ln w="45593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57262" y="6024562"/>
              <a:ext cx="5550535" cy="41910"/>
            </a:xfrm>
            <a:custGeom>
              <a:avLst/>
              <a:gdLst/>
              <a:ahLst/>
              <a:cxnLst/>
              <a:rect l="l" t="t" r="r" b="b"/>
              <a:pathLst>
                <a:path w="5550534" h="41910">
                  <a:moveTo>
                    <a:pt x="0" y="41833"/>
                  </a:moveTo>
                  <a:lnTo>
                    <a:pt x="5550217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443726" y="3538601"/>
              <a:ext cx="1209675" cy="2800350"/>
            </a:xfrm>
            <a:custGeom>
              <a:avLst/>
              <a:gdLst/>
              <a:ahLst/>
              <a:cxnLst/>
              <a:rect l="l" t="t" r="r" b="b"/>
              <a:pathLst>
                <a:path w="1209675" h="2800350">
                  <a:moveTo>
                    <a:pt x="0" y="201549"/>
                  </a:moveTo>
                  <a:lnTo>
                    <a:pt x="5319" y="155314"/>
                  </a:lnTo>
                  <a:lnTo>
                    <a:pt x="20474" y="112883"/>
                  </a:lnTo>
                  <a:lnTo>
                    <a:pt x="44257" y="75462"/>
                  </a:lnTo>
                  <a:lnTo>
                    <a:pt x="75462" y="44257"/>
                  </a:lnTo>
                  <a:lnTo>
                    <a:pt x="112883" y="20474"/>
                  </a:lnTo>
                  <a:lnTo>
                    <a:pt x="155314" y="5319"/>
                  </a:lnTo>
                  <a:lnTo>
                    <a:pt x="201549" y="0"/>
                  </a:lnTo>
                  <a:lnTo>
                    <a:pt x="1007999" y="0"/>
                  </a:lnTo>
                  <a:lnTo>
                    <a:pt x="1054240" y="5319"/>
                  </a:lnTo>
                  <a:lnTo>
                    <a:pt x="1096689" y="20474"/>
                  </a:lnTo>
                  <a:lnTo>
                    <a:pt x="1134135" y="44257"/>
                  </a:lnTo>
                  <a:lnTo>
                    <a:pt x="1165367" y="75462"/>
                  </a:lnTo>
                  <a:lnTo>
                    <a:pt x="1189175" y="112883"/>
                  </a:lnTo>
                  <a:lnTo>
                    <a:pt x="1204348" y="155314"/>
                  </a:lnTo>
                  <a:lnTo>
                    <a:pt x="1209675" y="201549"/>
                  </a:lnTo>
                  <a:lnTo>
                    <a:pt x="1209675" y="2598674"/>
                  </a:lnTo>
                  <a:lnTo>
                    <a:pt x="1204348" y="2644899"/>
                  </a:lnTo>
                  <a:lnTo>
                    <a:pt x="1189175" y="2687335"/>
                  </a:lnTo>
                  <a:lnTo>
                    <a:pt x="1165367" y="2724769"/>
                  </a:lnTo>
                  <a:lnTo>
                    <a:pt x="1134135" y="2755992"/>
                  </a:lnTo>
                  <a:lnTo>
                    <a:pt x="1096689" y="2779793"/>
                  </a:lnTo>
                  <a:lnTo>
                    <a:pt x="1054240" y="2794961"/>
                  </a:lnTo>
                  <a:lnTo>
                    <a:pt x="1007999" y="2800286"/>
                  </a:lnTo>
                  <a:lnTo>
                    <a:pt x="201549" y="2800286"/>
                  </a:lnTo>
                  <a:lnTo>
                    <a:pt x="155314" y="2794961"/>
                  </a:lnTo>
                  <a:lnTo>
                    <a:pt x="112883" y="2779793"/>
                  </a:lnTo>
                  <a:lnTo>
                    <a:pt x="75462" y="2755992"/>
                  </a:lnTo>
                  <a:lnTo>
                    <a:pt x="44257" y="2724769"/>
                  </a:lnTo>
                  <a:lnTo>
                    <a:pt x="20474" y="2687335"/>
                  </a:lnTo>
                  <a:lnTo>
                    <a:pt x="5319" y="2644899"/>
                  </a:lnTo>
                  <a:lnTo>
                    <a:pt x="0" y="2598674"/>
                  </a:lnTo>
                  <a:lnTo>
                    <a:pt x="0" y="20154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500876" y="5853112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1028573" y="0"/>
                  </a:moveTo>
                  <a:lnTo>
                    <a:pt x="57150" y="0"/>
                  </a:lnTo>
                  <a:lnTo>
                    <a:pt x="34879" y="4491"/>
                  </a:lnTo>
                  <a:lnTo>
                    <a:pt x="16716" y="16740"/>
                  </a:lnTo>
                  <a:lnTo>
                    <a:pt x="4482" y="34906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93"/>
                  </a:lnTo>
                  <a:lnTo>
                    <a:pt x="16716" y="326159"/>
                  </a:lnTo>
                  <a:lnTo>
                    <a:pt x="34879" y="338408"/>
                  </a:lnTo>
                  <a:lnTo>
                    <a:pt x="57150" y="342900"/>
                  </a:lnTo>
                  <a:lnTo>
                    <a:pt x="1028573" y="342900"/>
                  </a:lnTo>
                  <a:lnTo>
                    <a:pt x="1050863" y="338408"/>
                  </a:lnTo>
                  <a:lnTo>
                    <a:pt x="1069070" y="326159"/>
                  </a:lnTo>
                  <a:lnTo>
                    <a:pt x="1081347" y="307993"/>
                  </a:lnTo>
                  <a:lnTo>
                    <a:pt x="1085850" y="285750"/>
                  </a:lnTo>
                  <a:lnTo>
                    <a:pt x="1085850" y="57150"/>
                  </a:lnTo>
                  <a:lnTo>
                    <a:pt x="1081347" y="34906"/>
                  </a:lnTo>
                  <a:lnTo>
                    <a:pt x="1069070" y="16740"/>
                  </a:lnTo>
                  <a:lnTo>
                    <a:pt x="1050863" y="4491"/>
                  </a:lnTo>
                  <a:lnTo>
                    <a:pt x="1028573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500876" y="5853112"/>
              <a:ext cx="1085850" cy="342900"/>
            </a:xfrm>
            <a:custGeom>
              <a:avLst/>
              <a:gdLst/>
              <a:ahLst/>
              <a:cxnLst/>
              <a:rect l="l" t="t" r="r" b="b"/>
              <a:pathLst>
                <a:path w="1085850" h="342900">
                  <a:moveTo>
                    <a:pt x="0" y="57150"/>
                  </a:moveTo>
                  <a:lnTo>
                    <a:pt x="4482" y="34906"/>
                  </a:lnTo>
                  <a:lnTo>
                    <a:pt x="16716" y="16740"/>
                  </a:lnTo>
                  <a:lnTo>
                    <a:pt x="34879" y="4491"/>
                  </a:lnTo>
                  <a:lnTo>
                    <a:pt x="57150" y="0"/>
                  </a:lnTo>
                  <a:lnTo>
                    <a:pt x="1028573" y="0"/>
                  </a:lnTo>
                  <a:lnTo>
                    <a:pt x="1050863" y="4491"/>
                  </a:lnTo>
                  <a:lnTo>
                    <a:pt x="1069070" y="16740"/>
                  </a:lnTo>
                  <a:lnTo>
                    <a:pt x="1081347" y="34906"/>
                  </a:lnTo>
                  <a:lnTo>
                    <a:pt x="1085850" y="57150"/>
                  </a:lnTo>
                  <a:lnTo>
                    <a:pt x="1085850" y="285750"/>
                  </a:lnTo>
                  <a:lnTo>
                    <a:pt x="1081347" y="307993"/>
                  </a:lnTo>
                  <a:lnTo>
                    <a:pt x="1069070" y="326159"/>
                  </a:lnTo>
                  <a:lnTo>
                    <a:pt x="1050863" y="338408"/>
                  </a:lnTo>
                  <a:lnTo>
                    <a:pt x="1028573" y="342900"/>
                  </a:lnTo>
                  <a:lnTo>
                    <a:pt x="57150" y="342900"/>
                  </a:lnTo>
                  <a:lnTo>
                    <a:pt x="34879" y="338408"/>
                  </a:lnTo>
                  <a:lnTo>
                    <a:pt x="16716" y="326159"/>
                  </a:lnTo>
                  <a:lnTo>
                    <a:pt x="4482" y="307993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97534" y="6395402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71549" y="6486664"/>
            <a:ext cx="10599420" cy="114300"/>
          </a:xfrm>
          <a:custGeom>
            <a:avLst/>
            <a:gdLst/>
            <a:ahLst/>
            <a:cxnLst/>
            <a:rect l="l" t="t" r="r" b="b"/>
            <a:pathLst>
              <a:path w="10599420" h="114300">
                <a:moveTo>
                  <a:pt x="10484891" y="0"/>
                </a:moveTo>
                <a:lnTo>
                  <a:pt x="10485018" y="114299"/>
                </a:lnTo>
                <a:lnTo>
                  <a:pt x="10561037" y="76197"/>
                </a:lnTo>
                <a:lnTo>
                  <a:pt x="10504195" y="76197"/>
                </a:lnTo>
                <a:lnTo>
                  <a:pt x="10504109" y="50507"/>
                </a:lnTo>
                <a:lnTo>
                  <a:pt x="10504068" y="38097"/>
                </a:lnTo>
                <a:lnTo>
                  <a:pt x="10561357" y="38097"/>
                </a:lnTo>
                <a:lnTo>
                  <a:pt x="10484891" y="0"/>
                </a:lnTo>
                <a:close/>
              </a:path>
              <a:path w="10599420" h="114300">
                <a:moveTo>
                  <a:pt x="10484933" y="38097"/>
                </a:moveTo>
                <a:lnTo>
                  <a:pt x="0" y="50507"/>
                </a:lnTo>
                <a:lnTo>
                  <a:pt x="50" y="88607"/>
                </a:lnTo>
                <a:lnTo>
                  <a:pt x="10484976" y="76197"/>
                </a:lnTo>
                <a:lnTo>
                  <a:pt x="10484933" y="38097"/>
                </a:lnTo>
                <a:close/>
              </a:path>
              <a:path w="10599420" h="114300">
                <a:moveTo>
                  <a:pt x="10561357" y="38097"/>
                </a:moveTo>
                <a:lnTo>
                  <a:pt x="10504068" y="38097"/>
                </a:lnTo>
                <a:lnTo>
                  <a:pt x="10504109" y="50507"/>
                </a:lnTo>
                <a:lnTo>
                  <a:pt x="10504195" y="76197"/>
                </a:lnTo>
                <a:lnTo>
                  <a:pt x="10561037" y="76197"/>
                </a:lnTo>
                <a:lnTo>
                  <a:pt x="10599318" y="57010"/>
                </a:lnTo>
                <a:lnTo>
                  <a:pt x="10561357" y="380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733410" y="3490912"/>
            <a:ext cx="2871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task 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775195" y="5884545"/>
            <a:ext cx="53594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7697851" y="5840412"/>
            <a:ext cx="1101725" cy="368300"/>
            <a:chOff x="7697851" y="5840412"/>
            <a:chExt cx="1101725" cy="368300"/>
          </a:xfrm>
        </p:grpSpPr>
        <p:sp>
          <p:nvSpPr>
            <p:cNvPr id="95" name="object 95"/>
            <p:cNvSpPr/>
            <p:nvPr/>
          </p:nvSpPr>
          <p:spPr>
            <a:xfrm>
              <a:off x="7710551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91"/>
                  </a:lnTo>
                  <a:lnTo>
                    <a:pt x="16716" y="16740"/>
                  </a:lnTo>
                  <a:lnTo>
                    <a:pt x="4482" y="34906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93"/>
                  </a:lnTo>
                  <a:lnTo>
                    <a:pt x="16716" y="326159"/>
                  </a:lnTo>
                  <a:lnTo>
                    <a:pt x="34879" y="338408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408"/>
                  </a:lnTo>
                  <a:lnTo>
                    <a:pt x="1059545" y="326159"/>
                  </a:lnTo>
                  <a:lnTo>
                    <a:pt x="1071822" y="307993"/>
                  </a:lnTo>
                  <a:lnTo>
                    <a:pt x="1076325" y="285750"/>
                  </a:lnTo>
                  <a:lnTo>
                    <a:pt x="1076325" y="57150"/>
                  </a:lnTo>
                  <a:lnTo>
                    <a:pt x="1071822" y="34906"/>
                  </a:lnTo>
                  <a:lnTo>
                    <a:pt x="1059545" y="16740"/>
                  </a:lnTo>
                  <a:lnTo>
                    <a:pt x="1041338" y="4491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710551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906"/>
                  </a:lnTo>
                  <a:lnTo>
                    <a:pt x="16716" y="16740"/>
                  </a:lnTo>
                  <a:lnTo>
                    <a:pt x="34879" y="4491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91"/>
                  </a:lnTo>
                  <a:lnTo>
                    <a:pt x="1059545" y="16740"/>
                  </a:lnTo>
                  <a:lnTo>
                    <a:pt x="1071822" y="34906"/>
                  </a:lnTo>
                  <a:lnTo>
                    <a:pt x="1076325" y="57150"/>
                  </a:lnTo>
                  <a:lnTo>
                    <a:pt x="1076325" y="285750"/>
                  </a:lnTo>
                  <a:lnTo>
                    <a:pt x="1071822" y="307993"/>
                  </a:lnTo>
                  <a:lnTo>
                    <a:pt x="1059545" y="326159"/>
                  </a:lnTo>
                  <a:lnTo>
                    <a:pt x="1041338" y="338408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408"/>
                  </a:lnTo>
                  <a:lnTo>
                    <a:pt x="16716" y="326159"/>
                  </a:lnTo>
                  <a:lnTo>
                    <a:pt x="4482" y="307993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7856219" y="5884545"/>
            <a:ext cx="78359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8907526" y="5840412"/>
            <a:ext cx="1101725" cy="368300"/>
            <a:chOff x="8907526" y="5840412"/>
            <a:chExt cx="1101725" cy="368300"/>
          </a:xfrm>
        </p:grpSpPr>
        <p:sp>
          <p:nvSpPr>
            <p:cNvPr id="99" name="object 99"/>
            <p:cNvSpPr/>
            <p:nvPr/>
          </p:nvSpPr>
          <p:spPr>
            <a:xfrm>
              <a:off x="8920226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91"/>
                  </a:lnTo>
                  <a:lnTo>
                    <a:pt x="16716" y="16740"/>
                  </a:lnTo>
                  <a:lnTo>
                    <a:pt x="4482" y="34906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93"/>
                  </a:lnTo>
                  <a:lnTo>
                    <a:pt x="16716" y="326159"/>
                  </a:lnTo>
                  <a:lnTo>
                    <a:pt x="34879" y="338408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408"/>
                  </a:lnTo>
                  <a:lnTo>
                    <a:pt x="1059545" y="326159"/>
                  </a:lnTo>
                  <a:lnTo>
                    <a:pt x="1071822" y="307993"/>
                  </a:lnTo>
                  <a:lnTo>
                    <a:pt x="1076325" y="285750"/>
                  </a:lnTo>
                  <a:lnTo>
                    <a:pt x="1076325" y="57150"/>
                  </a:lnTo>
                  <a:lnTo>
                    <a:pt x="1071822" y="34906"/>
                  </a:lnTo>
                  <a:lnTo>
                    <a:pt x="1059545" y="16740"/>
                  </a:lnTo>
                  <a:lnTo>
                    <a:pt x="1041338" y="4491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920226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906"/>
                  </a:lnTo>
                  <a:lnTo>
                    <a:pt x="16716" y="16740"/>
                  </a:lnTo>
                  <a:lnTo>
                    <a:pt x="34879" y="4491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91"/>
                  </a:lnTo>
                  <a:lnTo>
                    <a:pt x="1059545" y="16740"/>
                  </a:lnTo>
                  <a:lnTo>
                    <a:pt x="1071822" y="34906"/>
                  </a:lnTo>
                  <a:lnTo>
                    <a:pt x="1076325" y="57150"/>
                  </a:lnTo>
                  <a:lnTo>
                    <a:pt x="1076325" y="285750"/>
                  </a:lnTo>
                  <a:lnTo>
                    <a:pt x="1071822" y="307993"/>
                  </a:lnTo>
                  <a:lnTo>
                    <a:pt x="1059545" y="326159"/>
                  </a:lnTo>
                  <a:lnTo>
                    <a:pt x="1041338" y="338408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408"/>
                  </a:lnTo>
                  <a:lnTo>
                    <a:pt x="16716" y="326159"/>
                  </a:lnTo>
                  <a:lnTo>
                    <a:pt x="4482" y="307993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187560" y="5884545"/>
            <a:ext cx="53784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Conv2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0107676" y="5840412"/>
            <a:ext cx="1101725" cy="368300"/>
            <a:chOff x="10107676" y="5840412"/>
            <a:chExt cx="1101725" cy="368300"/>
          </a:xfrm>
        </p:grpSpPr>
        <p:sp>
          <p:nvSpPr>
            <p:cNvPr id="103" name="object 103"/>
            <p:cNvSpPr/>
            <p:nvPr/>
          </p:nvSpPr>
          <p:spPr>
            <a:xfrm>
              <a:off x="10120376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1019048" y="0"/>
                  </a:moveTo>
                  <a:lnTo>
                    <a:pt x="57150" y="0"/>
                  </a:lnTo>
                  <a:lnTo>
                    <a:pt x="34879" y="4491"/>
                  </a:lnTo>
                  <a:lnTo>
                    <a:pt x="16716" y="16740"/>
                  </a:lnTo>
                  <a:lnTo>
                    <a:pt x="4482" y="34906"/>
                  </a:lnTo>
                  <a:lnTo>
                    <a:pt x="0" y="57150"/>
                  </a:lnTo>
                  <a:lnTo>
                    <a:pt x="0" y="285750"/>
                  </a:lnTo>
                  <a:lnTo>
                    <a:pt x="4482" y="307993"/>
                  </a:lnTo>
                  <a:lnTo>
                    <a:pt x="16716" y="326159"/>
                  </a:lnTo>
                  <a:lnTo>
                    <a:pt x="34879" y="338408"/>
                  </a:lnTo>
                  <a:lnTo>
                    <a:pt x="57150" y="342900"/>
                  </a:lnTo>
                  <a:lnTo>
                    <a:pt x="1019048" y="342900"/>
                  </a:lnTo>
                  <a:lnTo>
                    <a:pt x="1041338" y="338408"/>
                  </a:lnTo>
                  <a:lnTo>
                    <a:pt x="1059545" y="326159"/>
                  </a:lnTo>
                  <a:lnTo>
                    <a:pt x="1071822" y="307993"/>
                  </a:lnTo>
                  <a:lnTo>
                    <a:pt x="1076325" y="285750"/>
                  </a:lnTo>
                  <a:lnTo>
                    <a:pt x="1076325" y="57150"/>
                  </a:lnTo>
                  <a:lnTo>
                    <a:pt x="1071822" y="34906"/>
                  </a:lnTo>
                  <a:lnTo>
                    <a:pt x="1059545" y="16740"/>
                  </a:lnTo>
                  <a:lnTo>
                    <a:pt x="1041338" y="4491"/>
                  </a:lnTo>
                  <a:lnTo>
                    <a:pt x="1019048" y="0"/>
                  </a:lnTo>
                  <a:close/>
                </a:path>
              </a:pathLst>
            </a:custGeom>
            <a:solidFill>
              <a:srgbClr val="FFE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120376" y="5853112"/>
              <a:ext cx="1076325" cy="342900"/>
            </a:xfrm>
            <a:custGeom>
              <a:avLst/>
              <a:gdLst/>
              <a:ahLst/>
              <a:cxnLst/>
              <a:rect l="l" t="t" r="r" b="b"/>
              <a:pathLst>
                <a:path w="1076325" h="342900">
                  <a:moveTo>
                    <a:pt x="0" y="57150"/>
                  </a:moveTo>
                  <a:lnTo>
                    <a:pt x="4482" y="34906"/>
                  </a:lnTo>
                  <a:lnTo>
                    <a:pt x="16716" y="16740"/>
                  </a:lnTo>
                  <a:lnTo>
                    <a:pt x="34879" y="4491"/>
                  </a:lnTo>
                  <a:lnTo>
                    <a:pt x="57150" y="0"/>
                  </a:lnTo>
                  <a:lnTo>
                    <a:pt x="1019048" y="0"/>
                  </a:lnTo>
                  <a:lnTo>
                    <a:pt x="1041338" y="4491"/>
                  </a:lnTo>
                  <a:lnTo>
                    <a:pt x="1059545" y="16740"/>
                  </a:lnTo>
                  <a:lnTo>
                    <a:pt x="1071822" y="34906"/>
                  </a:lnTo>
                  <a:lnTo>
                    <a:pt x="1076325" y="57150"/>
                  </a:lnTo>
                  <a:lnTo>
                    <a:pt x="1076325" y="285750"/>
                  </a:lnTo>
                  <a:lnTo>
                    <a:pt x="1071822" y="307993"/>
                  </a:lnTo>
                  <a:lnTo>
                    <a:pt x="1059545" y="326159"/>
                  </a:lnTo>
                  <a:lnTo>
                    <a:pt x="1041338" y="338408"/>
                  </a:lnTo>
                  <a:lnTo>
                    <a:pt x="1019048" y="342900"/>
                  </a:lnTo>
                  <a:lnTo>
                    <a:pt x="57150" y="342900"/>
                  </a:lnTo>
                  <a:lnTo>
                    <a:pt x="34879" y="338408"/>
                  </a:lnTo>
                  <a:lnTo>
                    <a:pt x="16716" y="326159"/>
                  </a:lnTo>
                  <a:lnTo>
                    <a:pt x="4482" y="307993"/>
                  </a:lnTo>
                  <a:lnTo>
                    <a:pt x="0" y="2857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5C4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0268839" y="5884545"/>
            <a:ext cx="78359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AvgPool2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11330051" y="5853112"/>
            <a:ext cx="862330" cy="342900"/>
          </a:xfrm>
          <a:custGeom>
            <a:avLst/>
            <a:gdLst/>
            <a:ahLst/>
            <a:cxnLst/>
            <a:rect l="l" t="t" r="r" b="b"/>
            <a:pathLst>
              <a:path w="862329" h="342900">
                <a:moveTo>
                  <a:pt x="861949" y="342900"/>
                </a:moveTo>
                <a:lnTo>
                  <a:pt x="57150" y="342900"/>
                </a:lnTo>
                <a:lnTo>
                  <a:pt x="34879" y="338408"/>
                </a:lnTo>
                <a:lnTo>
                  <a:pt x="16716" y="326159"/>
                </a:lnTo>
                <a:lnTo>
                  <a:pt x="4482" y="307993"/>
                </a:lnTo>
                <a:lnTo>
                  <a:pt x="0" y="285750"/>
                </a:lnTo>
                <a:lnTo>
                  <a:pt x="0" y="57150"/>
                </a:lnTo>
                <a:lnTo>
                  <a:pt x="4482" y="34906"/>
                </a:lnTo>
                <a:lnTo>
                  <a:pt x="16716" y="16740"/>
                </a:lnTo>
                <a:lnTo>
                  <a:pt x="34879" y="4491"/>
                </a:lnTo>
                <a:lnTo>
                  <a:pt x="57150" y="0"/>
                </a:lnTo>
                <a:lnTo>
                  <a:pt x="86194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1757279" y="5884545"/>
            <a:ext cx="23177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latin typeface="Calibri"/>
                <a:cs typeface="Calibri"/>
              </a:rPr>
              <a:t>FC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21994" y="3783012"/>
            <a:ext cx="264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i-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57275" y="3257550"/>
            <a:ext cx="10239375" cy="3108960"/>
            <a:chOff x="1057275" y="3257550"/>
            <a:chExt cx="10239375" cy="3108960"/>
          </a:xfrm>
        </p:grpSpPr>
        <p:sp>
          <p:nvSpPr>
            <p:cNvPr id="110" name="object 110"/>
            <p:cNvSpPr/>
            <p:nvPr/>
          </p:nvSpPr>
          <p:spPr>
            <a:xfrm>
              <a:off x="1071562" y="3948048"/>
              <a:ext cx="610870" cy="5080"/>
            </a:xfrm>
            <a:custGeom>
              <a:avLst/>
              <a:gdLst/>
              <a:ahLst/>
              <a:cxnLst/>
              <a:rect l="l" t="t" r="r" b="b"/>
              <a:pathLst>
                <a:path w="610869" h="5079">
                  <a:moveTo>
                    <a:pt x="0" y="4699"/>
                  </a:moveTo>
                  <a:lnTo>
                    <a:pt x="610679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809875" y="3257550"/>
              <a:ext cx="8458200" cy="3108960"/>
            </a:xfrm>
            <a:custGeom>
              <a:avLst/>
              <a:gdLst/>
              <a:ahLst/>
              <a:cxnLst/>
              <a:rect l="l" t="t" r="r" b="b"/>
              <a:pathLst>
                <a:path w="8458200" h="3108960">
                  <a:moveTo>
                    <a:pt x="0" y="19050"/>
                  </a:moveTo>
                  <a:lnTo>
                    <a:pt x="0" y="3076282"/>
                  </a:lnTo>
                </a:path>
                <a:path w="8458200" h="3108960">
                  <a:moveTo>
                    <a:pt x="1219200" y="0"/>
                  </a:moveTo>
                  <a:lnTo>
                    <a:pt x="1219200" y="3057232"/>
                  </a:lnTo>
                </a:path>
                <a:path w="8458200" h="3108960">
                  <a:moveTo>
                    <a:pt x="2428875" y="47625"/>
                  </a:moveTo>
                  <a:lnTo>
                    <a:pt x="2428875" y="3104857"/>
                  </a:lnTo>
                </a:path>
                <a:path w="8458200" h="3108960">
                  <a:moveTo>
                    <a:pt x="6038850" y="752475"/>
                  </a:moveTo>
                  <a:lnTo>
                    <a:pt x="6038850" y="3108515"/>
                  </a:lnTo>
                </a:path>
                <a:path w="8458200" h="3108960">
                  <a:moveTo>
                    <a:pt x="7258050" y="1381125"/>
                  </a:moveTo>
                  <a:lnTo>
                    <a:pt x="7258050" y="3106724"/>
                  </a:lnTo>
                </a:path>
                <a:path w="8458200" h="3108960">
                  <a:moveTo>
                    <a:pt x="8458200" y="1905000"/>
                  </a:moveTo>
                  <a:lnTo>
                    <a:pt x="8458200" y="3092437"/>
                  </a:lnTo>
                </a:path>
              </a:pathLst>
            </a:custGeom>
            <a:ln w="57150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9756393" y="4299648"/>
            <a:ext cx="5899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latin typeface="Calibri"/>
                <a:cs typeface="Calibri"/>
              </a:rPr>
              <a:t>Barrier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E982-0911-5C0F-A263-51AA658F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 fontScale="90000"/>
          </a:bodyPr>
          <a:lstStyle/>
          <a:p>
            <a:r>
              <a:rPr lang="en-US" sz="4000">
                <a:ea typeface="+mj-lt"/>
                <a:cs typeface="+mj-lt"/>
              </a:rPr>
              <a:t>System Performance Evaluation</a:t>
            </a:r>
            <a:endParaRPr lang="en-US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6BCB-826E-0E55-5035-24F9DB6AF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904" y="1162240"/>
                <a:ext cx="10642600" cy="504305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latin typeface="+mn-lt"/>
                    <a:ea typeface="+mn-lt"/>
                    <a:cs typeface="+mn-lt"/>
                  </a:rPr>
                  <a:t>Hardware Specifications:</a:t>
                </a:r>
                <a:endParaRPr lang="en-US" sz="2600">
                  <a:latin typeface="+mn-lt"/>
                </a:endParaRPr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Processor: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𝐺𝐻𝑧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600">
                    <a:ea typeface="+mn-lt"/>
                    <a:cs typeface="+mn-lt"/>
                  </a:rPr>
                  <a:t>clock speed, 2 Multiply-Add (FMA) units.</a:t>
                </a:r>
                <a:endParaRPr lang="en-US" sz="2600"/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(Note: 1 F</a:t>
                </a:r>
                <a:r>
                  <a:rPr lang="en-US" altLang="zh-CN" sz="2600">
                    <a:ea typeface="+mn-lt"/>
                    <a:cs typeface="+mn-lt"/>
                  </a:rPr>
                  <a:t>ull </a:t>
                </a:r>
                <a:r>
                  <a:rPr lang="en-US" sz="2600">
                    <a:ea typeface="+mn-lt"/>
                    <a:cs typeface="+mn-lt"/>
                  </a:rPr>
                  <a:t>M</a:t>
                </a:r>
                <a:r>
                  <a:rPr lang="en-US" altLang="zh-CN" sz="2600">
                    <a:ea typeface="+mn-lt"/>
                    <a:cs typeface="+mn-lt"/>
                  </a:rPr>
                  <a:t>ulti-</a:t>
                </a:r>
                <a:r>
                  <a:rPr lang="en-US" sz="2600">
                    <a:ea typeface="+mn-lt"/>
                    <a:cs typeface="+mn-lt"/>
                  </a:rPr>
                  <a:t>Add unit = 1 multiply + 1 add = 2 FLOPs/cycle)</a:t>
                </a:r>
                <a:endParaRPr lang="en-US" sz="2600"/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Memory Bus(CPU</a:t>
                </a:r>
                <a:r>
                  <a:rPr lang="en-US" sz="2600">
                    <a:ea typeface="+mn-lt"/>
                    <a:cs typeface="+mn-lt"/>
                    <a:sym typeface="Wingdings" panose="05000000000000000000" pitchFamily="2" charset="2"/>
                  </a:rPr>
                  <a:t>DRAM, no cache</a:t>
                </a:r>
                <a:r>
                  <a:rPr lang="en-US" sz="2600">
                    <a:ea typeface="+mn-lt"/>
                    <a:cs typeface="+mn-lt"/>
                  </a:rPr>
                  <a:t>): 64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600" i="1" dirty="0" smtClean="0">
                        <a:latin typeface="Cambria Math" panose="02040503050406030204"/>
                        <a:ea typeface="+mn-lt"/>
                        <a:cs typeface="+mn-lt"/>
                      </a:rPr>
                      <m:t>𝑠</m:t>
                    </m:r>
                  </m:oMath>
                </a14:m>
                <a:r>
                  <a:rPr lang="en-US" sz="2600">
                    <a:ea typeface="+mn-lt"/>
                    <a:cs typeface="+mn-lt"/>
                  </a:rPr>
                  <a:t> peak bandwidth, 10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 sz="2600">
                    <a:ea typeface="+mn-lt"/>
                    <a:cs typeface="+mn-lt"/>
                  </a:rPr>
                  <a:t> latency.</a:t>
                </a:r>
                <a:endParaRPr lang="en-US" sz="2600"/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Data Size: 1 Word = 8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</m:oMath>
                </a14:m>
                <a:r>
                  <a:rPr lang="en-US" sz="2600">
                    <a:ea typeface="+mn-lt"/>
                    <a:cs typeface="+mn-lt"/>
                  </a:rPr>
                  <a:t>.</a:t>
                </a:r>
                <a:endParaRPr lang="en-US" sz="2600"/>
              </a:p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latin typeface="+mn-lt"/>
                    <a:ea typeface="+mn-lt"/>
                    <a:cs typeface="+mn-lt"/>
                  </a:rPr>
                  <a:t>The Workload:</a:t>
                </a:r>
                <a:endParaRPr lang="en-US" sz="2600">
                  <a:latin typeface="+mn-lt"/>
                </a:endParaRPr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Simplified Operation: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𝑍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𝑋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𝑊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+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𝐶𝑜𝑛𝑠𝑡</m:t>
                    </m:r>
                  </m:oMath>
                </a14:m>
                <a:endParaRPr lang="en-US" sz="2600"/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Assumption: W (weights) and intermediate results are in local registers.</a:t>
                </a:r>
                <a:endParaRPr lang="en-US" sz="2600"/>
              </a:p>
              <a:p>
                <a:pPr marL="914400" lvl="1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sz="2600">
                    <a:ea typeface="+mn-lt"/>
                    <a:cs typeface="+mn-lt"/>
                  </a:rPr>
                  <a:t>We only need to fetch X from DRAM.</a:t>
                </a:r>
                <a:endParaRPr lang="en-US" sz="260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B6BCB-826E-0E55-5035-24F9DB6AF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904" y="1162240"/>
                <a:ext cx="10642600" cy="5043052"/>
              </a:xfrm>
              <a:blipFill>
                <a:blip r:embed="rId2"/>
                <a:stretch>
                  <a:fillRect l="-859" t="-2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896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92B9-73B6-9086-7CC2-CF83A552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Compute vs. Memory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9D15D-979B-F0E6-B443-B7EB2475BE3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88975" y="1162240"/>
                <a:ext cx="10642600" cy="559924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The Compute Ceiling (Peak Performance):</a:t>
                </a:r>
                <a:endParaRPr lang="en-US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/>
                        <a:ea typeface="+mn-lt"/>
                        <a:cs typeface="+mn-lt"/>
                      </a:rPr>
                      <m:t>4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𝐺𝐻𝑧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2  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𝑝𝑖𝑝𝑒𝑙𝑖𝑛𝑒𝑠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2 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16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𝐺𝐹𝐿𝑂𝑃𝑆</m:t>
                    </m:r>
                  </m:oMath>
                </a14:m>
                <a:endParaRPr lang="en-US" sz="24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i="1">
                    <a:ea typeface="+mn-lt"/>
                    <a:cs typeface="+mn-lt"/>
                  </a:rPr>
                  <a:t>This is our absolute physical limit.</a:t>
                </a:r>
                <a:endParaRPr lang="en-US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The Memory Ceiling (Non-Streaming vs. Streaming):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>
                    <a:ea typeface="+mn-lt"/>
                    <a:cs typeface="+mn-lt"/>
                  </a:rPr>
                  <a:t>Scenario A: Streaming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CN" sz="2400">
                    <a:ea typeface="+mn-lt"/>
                    <a:cs typeface="+mn-lt"/>
                  </a:rPr>
                  <a:t>Latency is hidden by pipelining. Limit is the 64 GB/s bus.</a:t>
                </a:r>
                <a:endParaRPr lang="en-US" altLang="zh-CN" sz="240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CN" sz="2400">
                    <a:ea typeface="+mn-lt"/>
                    <a:cs typeface="+mn-lt"/>
                  </a:rPr>
                  <a:t>Fetch rate: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64 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4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𝐺𝐻𝑧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16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2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𝑤𝑜𝑟𝑑𝑠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</m:oMath>
                </a14:m>
                <a:endParaRPr lang="en-US" altLang="zh-CN" sz="2400">
                  <a:ea typeface="+mn-lt"/>
                  <a:cs typeface="+mn-lt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CN" sz="2400">
                    <a:ea typeface="+mn-lt"/>
                    <a:cs typeface="+mn-lt"/>
                  </a:rPr>
                  <a:t>Compute rate: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2  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𝑝𝑖𝑝𝑒𝑙𝑖𝑛𝑒𝑠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2 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=4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</m:oMath>
                </a14:m>
                <a:endParaRPr lang="en-US" altLang="zh-CN" sz="2400">
                  <a:ea typeface="+mn-lt"/>
                  <a:cs typeface="+mn-lt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CN" sz="2400">
                    <a:solidFill>
                      <a:srgbClr val="FF0000"/>
                    </a:solidFill>
                    <a:ea typeface="+mn-lt"/>
                    <a:cs typeface="+mn-lt"/>
                  </a:rPr>
                  <a:t>Sustained Performance: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0.25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 16 </m:t>
                    </m:r>
                    <m:r>
                      <m:rPr>
                        <m:sty m:val="p"/>
                      </m:rP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G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𝐹𝐿𝑂𝑃𝑆</m:t>
                    </m:r>
                  </m:oMath>
                </a14:m>
                <a:endParaRPr lang="en-US">
                  <a:solidFill>
                    <a:srgbClr val="FF0000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Scenario B: Non-Streaming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Wait 10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 for data(fetch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2 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𝑤𝑜𝑟𝑑𝑠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) </a:t>
                </a:r>
                <a:r>
                  <a:rPr lang="en-US" sz="2400">
                    <a:ea typeface="+mn-lt"/>
                    <a:cs typeface="+mn-lt"/>
                    <a:sym typeface="Wingdings" panose="05000000000000000000" pitchFamily="2" charset="2"/>
                  </a:rPr>
                  <a:t></a:t>
                </a:r>
                <a:r>
                  <a:rPr lang="en-US" sz="2400">
                    <a:ea typeface="+mn-lt"/>
                    <a:cs typeface="+mn-lt"/>
                  </a:rPr>
                  <a:t> execute 4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.</a:t>
                </a:r>
                <a:endParaRPr lang="en-US" sz="240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Sustained Performance: </a:t>
                </a:r>
                <a:endParaRPr lang="en-US" sz="2400" i="1">
                  <a:latin typeface="Cambria Math" panose="02040503050406030204" pitchFamily="18" charset="0"/>
                  <a:ea typeface="+mn-lt"/>
                  <a:cs typeface="+mn-lt"/>
                </a:endParaRP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rgbClr val="FF0000"/>
                    </a:solidFill>
                    <a:ea typeface="+mn-lt"/>
                    <a:cs typeface="+mn-lt"/>
                  </a:rPr>
                  <a:t>Overlap: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10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400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𝑀𝐹𝐿𝑂𝑃𝑆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  <a:ea typeface="+mn-lt"/>
                    <a:cs typeface="+mn-lt"/>
                  </a:rPr>
                  <a:t>.</a:t>
                </a: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US" altLang="zh-CN" sz="2400">
                    <a:solidFill>
                      <a:srgbClr val="FF0000"/>
                    </a:solidFill>
                    <a:ea typeface="+mn-lt"/>
                    <a:cs typeface="+mn-lt"/>
                  </a:rPr>
                  <a:t>No overlap: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4 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(10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+0.25</m:t>
                    </m:r>
                    <m:r>
                      <m:rPr>
                        <m:sty m:val="p"/>
                      </m:rP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ns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)= 400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𝑀𝐹𝐿𝑂𝑃𝑆</m:t>
                    </m:r>
                  </m:oMath>
                </a14:m>
                <a:endParaRPr lang="en-US" sz="2400">
                  <a:solidFill>
                    <a:srgbClr val="FF0000"/>
                  </a:solidFill>
                  <a:ea typeface="+mn-lt"/>
                  <a:cs typeface="+mn-lt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9D15D-979B-F0E6-B443-B7EB2475B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88975" y="1162240"/>
                <a:ext cx="10642600" cy="5599240"/>
              </a:xfrm>
              <a:blipFill>
                <a:blip r:embed="rId2"/>
                <a:stretch>
                  <a:fillRect l="-745" t="-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291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8B17-AEE8-1B05-6724-1DC3105D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Streaming </a:t>
            </a:r>
            <a:r>
              <a:rPr lang="en-US" altLang="zh-CN"/>
              <a:t>vs. Non-streaming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058B9-220F-44E6-E9DC-489450F04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162240"/>
                <a:ext cx="10642600" cy="4964240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Non-Streaming (Stop-and-Go Execution):</a:t>
                </a:r>
                <a:endParaRPr 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Processor waits for the full round-trip of every memory request.</a:t>
                </a:r>
                <a:endParaRPr lang="en-US" sz="240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The Bottleneck:</a:t>
                </a:r>
                <a:r>
                  <a:rPr lang="en-US" sz="2400">
                    <a:ea typeface="+mn-lt"/>
                    <a:cs typeface="+mn-lt"/>
                  </a:rPr>
                  <a:t> </a:t>
                </a:r>
                <a:r>
                  <a:rPr lang="en-US" sz="2400" b="1">
                    <a:ea typeface="+mn-lt"/>
                    <a:cs typeface="+mn-lt"/>
                  </a:rPr>
                  <a:t>Memory Latency</a:t>
                </a:r>
                <a:r>
                  <a:rPr lang="en-US" sz="2400">
                    <a:ea typeface="+mn-lt"/>
                    <a:cs typeface="+mn-lt"/>
                  </a:rPr>
                  <a:t> (e.g., 10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𝑛𝑠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).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i="1">
                    <a:ea typeface="+mn-lt"/>
                    <a:cs typeface="+mn-lt"/>
                  </a:rPr>
                  <a:t>Computation time is severely throttled by wait time.</a:t>
                </a:r>
                <a:endParaRPr lang="en-US" sz="24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Streaming (Pipelined Data Flow):</a:t>
                </a:r>
                <a:endParaRPr lang="en-US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Multiple requests are in-flight. Initial latency is "hidden."</a:t>
                </a:r>
                <a:endParaRPr lang="en-US" sz="240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Scenario A: NO Cache (CPU </a:t>
                </a:r>
                <a:r>
                  <a:rPr lang="en-US" sz="2400" b="1">
                    <a:ea typeface="+mn-lt"/>
                    <a:cs typeface="+mn-lt"/>
                    <a:sym typeface="Wingdings" panose="05000000000000000000" pitchFamily="2" charset="2"/>
                  </a:rPr>
                  <a:t> </a:t>
                </a:r>
                <a:r>
                  <a:rPr lang="en-US" sz="2400" b="1">
                    <a:ea typeface="+mn-lt"/>
                    <a:cs typeface="+mn-lt"/>
                  </a:rPr>
                  <a:t>DRAM directly)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CPU pulls data straight from the main memory bus.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The Bottleneck:</a:t>
                </a:r>
                <a:r>
                  <a:rPr lang="en-US" sz="2400">
                    <a:ea typeface="+mn-lt"/>
                    <a:cs typeface="+mn-lt"/>
                  </a:rPr>
                  <a:t> </a:t>
                </a:r>
                <a:r>
                  <a:rPr lang="en-US" sz="2400" b="1">
                    <a:ea typeface="+mn-lt"/>
                    <a:cs typeface="+mn-lt"/>
                  </a:rPr>
                  <a:t>DRAM Bandwidth</a:t>
                </a:r>
                <a:r>
                  <a:rPr lang="en-US" sz="2400">
                    <a:ea typeface="+mn-lt"/>
                    <a:cs typeface="+mn-lt"/>
                  </a:rPr>
                  <a:t> (e.g., 64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).</a:t>
                </a:r>
                <a:endParaRPr lang="en-US" sz="240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Scenario B: WITH Cache (The "Perfect Prefetch" Assumption)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Hardware prefetcher perfectly streams data from DRAM into L1 Cache in the background.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b="1">
                    <a:ea typeface="+mn-lt"/>
                    <a:cs typeface="+mn-lt"/>
                  </a:rPr>
                  <a:t>The Bottleneck:</a:t>
                </a:r>
                <a:r>
                  <a:rPr lang="en-US" sz="2400">
                    <a:ea typeface="+mn-lt"/>
                    <a:cs typeface="+mn-lt"/>
                  </a:rPr>
                  <a:t> </a:t>
                </a:r>
                <a:r>
                  <a:rPr lang="en-US" sz="2400" b="1">
                    <a:ea typeface="+mn-lt"/>
                    <a:cs typeface="+mn-lt"/>
                  </a:rPr>
                  <a:t>CPU-to-Cache Fetch Rate</a:t>
                </a:r>
                <a:r>
                  <a:rPr lang="en-US" sz="2400">
                    <a:ea typeface="+mn-lt"/>
                    <a:cs typeface="+mn-lt"/>
                  </a:rPr>
                  <a:t> (e.g., 4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𝑊𝑜𝑟𝑑𝑠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𝑐𝑦𝑐𝑙𝑒</m:t>
                    </m:r>
                  </m:oMath>
                </a14:m>
                <a:r>
                  <a:rPr lang="en-US" sz="2400">
                    <a:ea typeface="+mn-lt"/>
                    <a:cs typeface="+mn-lt"/>
                  </a:rPr>
                  <a:t>).</a:t>
                </a:r>
                <a:endParaRPr lang="en-US" sz="2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2400" i="1">
                    <a:ea typeface="+mn-lt"/>
                    <a:cs typeface="+mn-lt"/>
                  </a:rPr>
                  <a:t>DRAM bandwidth and latency are assumed to be fully masked.</a:t>
                </a:r>
                <a:endParaRPr lang="en-US" sz="240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F058B9-220F-44E6-E9DC-489450F04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162240"/>
                <a:ext cx="10642600" cy="4964240"/>
              </a:xfrm>
              <a:blipFill>
                <a:blip r:embed="rId2"/>
                <a:stretch>
                  <a:fillRect l="-745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523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0C6-5A54-F0DC-E34A-55C76995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Arithmetic Intensity (AI)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4EF0AD-1456-1A0B-5627-33865DE30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What is Arithmetic Intensity (AI)?</a:t>
                </a:r>
                <a:endParaRPr lang="en-US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Ratio of operations performed to data moved from DRAM.</a:t>
                </a:r>
                <a:endParaRPr lang="en-US" sz="24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Formula: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𝐴𝐼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 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𝑇𝑜𝑡𝑎𝑙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𝐹𝐿𝑂𝑃𝑠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𝑇𝑜𝑡𝑎𝑙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𝐵𝑦𝑡𝑒𝑠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𝐴𝑐𝑐𝑒𝑠𝑠𝑒𝑑</m:t>
                        </m:r>
                        <m:r>
                          <m:rPr>
                            <m:nor/>
                          </m:rPr>
                          <a:rPr lang="en-US" sz="2400" dirty="0">
                            <a:ea typeface="+mn-lt"/>
                            <a:cs typeface="+mn-lt"/>
                          </a:rPr>
                          <m:t> </m:t>
                        </m:r>
                      </m:den>
                    </m:f>
                  </m:oMath>
                </a14:m>
                <a:endParaRPr lang="en-US" sz="2400" b="1">
                  <a:ea typeface="+mn-lt"/>
                  <a:cs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>
                    <a:ea typeface="+mn-lt"/>
                    <a:cs typeface="+mn-lt"/>
                  </a:rPr>
                  <a:t>Calculating AI for our Workload:</a:t>
                </a:r>
                <a:endParaRPr lang="en-US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For each element of X fetched, we do 1 multiplication and 1 addition.</a:t>
                </a:r>
                <a:endParaRPr lang="en-US" sz="24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Computation: 2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</m:oMath>
                </a14:m>
                <a:endParaRPr lang="en-US" sz="2400">
                  <a:ea typeface="+mn-lt"/>
                  <a:cs typeface="+mn-lt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ea typeface="+mn-lt"/>
                    <a:cs typeface="+mn-lt"/>
                  </a:rPr>
                  <a:t>Data Moved: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1 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𝑊𝑜𝑟𝑑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8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</m:oMath>
                </a14:m>
                <a:endParaRPr lang="en-US" sz="2400">
                  <a:ea typeface="+mn-lt"/>
                  <a:cs typeface="+mn-lt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𝐴𝐼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2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/ 8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0.25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.</m:t>
                    </m:r>
                  </m:oMath>
                </a14:m>
                <a:endParaRPr lang="en-US" sz="2400">
                  <a:ea typeface="+mn-lt"/>
                  <a:cs typeface="+mn-lt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>
                  <a:ea typeface="+mn-lt"/>
                  <a:cs typeface="+mn-lt"/>
                </a:endParaRPr>
              </a:p>
              <a:p>
                <a:endParaRPr lang="en-US" sz="2800">
                  <a:ea typeface="+mn-lt"/>
                  <a:cs typeface="+mn-lt"/>
                </a:endParaRPr>
              </a:p>
              <a:p>
                <a:endParaRPr lang="en-US" sz="28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4EF0AD-1456-1A0B-5627-33865DE30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5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006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DFD3-C8C8-9495-0BBF-422145CD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The Roofline Model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4DD8-66FE-D04B-B951-BFEF0DF521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b="1">
                    <a:ea typeface="+mn-lt"/>
                    <a:cs typeface="+mn-lt"/>
                  </a:rPr>
                  <a:t>Defining the "Machine Balance":</a:t>
                </a:r>
                <a:endParaRPr lang="en-US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𝐵𝑎𝑙𝑎𝑛𝑐𝑒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𝑃𝑜𝑖𝑛𝑡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 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𝑃𝑒𝑎𝑘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𝐶𝑜𝑚𝑝𝑢𝑡𝑒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𝑃𝑒𝑎𝑘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𝐵𝑎𝑛𝑑𝑤𝑖𝑑𝑡h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16 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𝐺𝐹𝐿𝑂𝑃𝑆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64 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𝐺𝐵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/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𝑠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 0.25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𝐹𝐿𝑂𝑃𝑠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/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𝐵𝑦𝑡𝑒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.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b="1">
                    <a:ea typeface="+mn-lt"/>
                    <a:cs typeface="+mn-lt"/>
                  </a:rPr>
                  <a:t>Where does our algorithm sit?</a:t>
                </a:r>
                <a:endParaRPr lang="en-US"/>
              </a:p>
              <a:p>
                <a:pPr lvl="1"/>
                <a:r>
                  <a:rPr lang="en-US" sz="2400">
                    <a:ea typeface="+mn-lt"/>
                    <a:cs typeface="+mn-lt"/>
                  </a:rPr>
                  <a:t>Our AI (0.25) perfectly matches the Machine Balance point!</a:t>
                </a:r>
                <a:endParaRPr lang="en-US" sz="2400"/>
              </a:p>
              <a:p>
                <a:pPr lvl="1"/>
                <a:r>
                  <a:rPr lang="en-US" sz="2400">
                    <a:ea typeface="+mn-lt"/>
                    <a:cs typeface="+mn-lt"/>
                  </a:rPr>
                  <a:t>Sustained Performance: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64 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×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0.25 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𝐹𝐿𝑂𝑃𝑠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𝐵𝑦𝑡𝑒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= 16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𝐺𝐹𝐿𝑂𝑃𝑆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.</m:t>
                    </m:r>
                  </m:oMath>
                </a14:m>
                <a:endParaRPr lang="en-US" sz="240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C4DD8-66FE-D04B-B951-BFEF0DF52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9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0C8526C0-27C9-492E-7D8E-B30A85524B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21"/>
          <a:stretch>
            <a:fillRect/>
          </a:stretch>
        </p:blipFill>
        <p:spPr>
          <a:xfrm>
            <a:off x="2677160" y="3637280"/>
            <a:ext cx="5631826" cy="30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20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E22F-F1D1-0AA3-52BA-6A8AAD4E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The Impact of Cache &amp; Data Reuse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B65E-6D6E-A876-E57D-FF9900C4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10642600" cy="4512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Assumption:</a:t>
            </a:r>
            <a:r>
              <a:rPr lang="en-US">
                <a:ea typeface="+mn-lt"/>
                <a:cs typeface="+mn-lt"/>
              </a:rPr>
              <a:t> What if we add a local Cache and reuse elements?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Without Cache (No Reuse):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Every computation fetches from DRAM.</a:t>
            </a:r>
            <a:endParaRPr 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Stuck at AI = 0.25.</a:t>
            </a:r>
            <a:endParaRPr lang="en-US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With Cache (Data Reuse):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We fetch X once from DRAM, store it in Cache, and reuse it K times.</a:t>
            </a:r>
            <a:endParaRPr 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Bytes moved from DRAM decreases significantly.</a:t>
            </a:r>
            <a:endParaRPr 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ea typeface="+mn-lt"/>
                <a:cs typeface="+mn-lt"/>
              </a:rPr>
              <a:t>AI Increases!</a:t>
            </a:r>
            <a:r>
              <a:rPr lang="en-US" sz="2400">
                <a:ea typeface="+mn-lt"/>
                <a:cs typeface="+mn-lt"/>
              </a:rPr>
              <a:t> AI &gt; 0.25)</a:t>
            </a:r>
            <a:endParaRPr lang="en-US" sz="2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The Roofline Shift: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Higher AI moves our operating point to the </a:t>
            </a:r>
            <a:r>
              <a:rPr lang="en-US" sz="2400" b="1">
                <a:ea typeface="+mn-lt"/>
                <a:cs typeface="+mn-lt"/>
              </a:rPr>
              <a:t>RIGHT</a:t>
            </a:r>
            <a:r>
              <a:rPr lang="en-US" sz="2400">
                <a:ea typeface="+mn-lt"/>
                <a:cs typeface="+mn-lt"/>
              </a:rPr>
              <a:t> on the Roofline graph.</a:t>
            </a:r>
            <a:endParaRPr 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System shifts from </a:t>
            </a:r>
            <a:r>
              <a:rPr lang="en-US" sz="2400" i="1">
                <a:ea typeface="+mn-lt"/>
                <a:cs typeface="+mn-lt"/>
              </a:rPr>
              <a:t>Balance Point</a:t>
            </a:r>
            <a:r>
              <a:rPr lang="en-US" sz="2400">
                <a:ea typeface="+mn-lt"/>
                <a:cs typeface="+mn-lt"/>
              </a:rPr>
              <a:t> to </a:t>
            </a:r>
            <a:r>
              <a:rPr lang="en-US" sz="2400" i="1">
                <a:ea typeface="+mn-lt"/>
                <a:cs typeface="+mn-lt"/>
              </a:rPr>
              <a:t>Compute-Bound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68163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81A92-D154-28EC-8E22-9B7B0887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918B-0673-48D0-FC55-1872429A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Shared Memory Programming (1)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7319B-54BF-8275-2EC2-945869F73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162240"/>
                <a:ext cx="5026025" cy="453244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800" b="1"/>
                  <a:t>Assumption:</a:t>
                </a:r>
              </a:p>
              <a:p>
                <a:r>
                  <a:rPr lang="en-US" sz="2800"/>
                  <a:t>Matrix multiplication: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br>
                  <a:rPr lang="ar-AE" sz="2800"/>
                </a:br>
                <a:r>
                  <a:rPr lang="en-US" sz="2800"/>
                  <a:t>Shared (All threads): B and C</a:t>
                </a:r>
              </a:p>
              <a:p>
                <a:r>
                  <a:rPr lang="en-US" sz="2800"/>
                  <a:t>Local (Thread </a:t>
                </a:r>
                <a:r>
                  <a:rPr lang="en-US" sz="2800" err="1"/>
                  <a:t>i</a:t>
                </a:r>
                <a:r>
                  <a:rPr lang="en-US" sz="2800"/>
                  <a:t>):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/>
                  <a:t>n elements of Matrix A, stored in 3 arrays: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200" err="1"/>
                  <a:t>P_index</a:t>
                </a:r>
                <a:r>
                  <a:rPr lang="en-US" sz="2200"/>
                  <a:t>: row index.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200" err="1"/>
                  <a:t>Q_index</a:t>
                </a:r>
                <a:r>
                  <a:rPr lang="en-US" sz="2200"/>
                  <a:t>: column index.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200" err="1"/>
                  <a:t>A_local</a:t>
                </a:r>
                <a:r>
                  <a:rPr lang="en-US" sz="2200"/>
                  <a:t>: element value.</a:t>
                </a:r>
              </a:p>
              <a:p>
                <a:pPr lvl="1"/>
                <a:endParaRPr lang="en-US" sz="2200"/>
              </a:p>
              <a:p>
                <a:endParaRPr lang="en-US" sz="28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7319B-54BF-8275-2EC2-945869F73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162240"/>
                <a:ext cx="5026025" cy="4532440"/>
              </a:xfrm>
              <a:blipFill>
                <a:blip r:embed="rId2"/>
                <a:stretch>
                  <a:fillRect l="-2519" t="-1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B845AF5B-1B96-39CE-F8EB-26012893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34282"/>
            <a:ext cx="5407025" cy="347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728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6A1F-2692-96F7-2B64-B52199C4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C6FA-65AB-84DE-B566-8A342562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Shared Memory Programming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42BE-FB4C-08FE-204D-BDE6E074B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a) Each Thread Has One Row of A</a:t>
            </a:r>
          </a:p>
          <a:p>
            <a:r>
              <a:rPr lang="en-US" sz="2800" dirty="0"/>
              <a:t>Each thread computes one row of C.</a:t>
            </a:r>
            <a:br>
              <a:rPr lang="en-US" sz="2800" dirty="0"/>
            </a:br>
            <a:r>
              <a:rPr lang="en-US" sz="2800" dirty="0"/>
              <a:t>No overlapping writes so no locks needed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3950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A2CE-AC0A-8348-3D72-FA7739AF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8979-31BB-C0B7-CCD4-8A30F277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Shared Memory Programming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C1B8-8761-3569-2F80-9AC42D25E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b) Each Thread Has One Column of A</a:t>
            </a:r>
          </a:p>
          <a:p>
            <a:r>
              <a:rPr lang="en-US" sz="2800" dirty="0"/>
              <a:t>Multiple threads update same C[</a:t>
            </a:r>
            <a:r>
              <a:rPr lang="en-US" sz="2800" dirty="0" err="1"/>
              <a:t>i</a:t>
            </a:r>
            <a:r>
              <a:rPr lang="en-US" sz="2800" dirty="0"/>
              <a:t>][j].</a:t>
            </a:r>
            <a:br>
              <a:rPr lang="en-US" sz="2800" dirty="0"/>
            </a:br>
            <a:r>
              <a:rPr lang="en-US" sz="2800" dirty="0"/>
              <a:t>Writes overlap, so race condition possible.</a:t>
            </a:r>
            <a:br>
              <a:rPr lang="en-US" sz="2800" dirty="0"/>
            </a:br>
            <a:r>
              <a:rPr lang="en-US" sz="2800" dirty="0"/>
              <a:t>Need atomics, locks, or local accumulation + reduction.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18232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D0C6-C652-B20D-87D0-DD359281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D241-62C6-E749-7A4E-33C31340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Shared Memory Programming (4)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C29D-05AE-DB9A-E086-5E043712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c) Using Arbitrary Elements of A</a:t>
            </a:r>
          </a:p>
          <a:p>
            <a:r>
              <a:rPr lang="en-US" sz="2800" dirty="0"/>
              <a:t>Worst-case contention on C.</a:t>
            </a:r>
            <a:br>
              <a:rPr lang="en-US" sz="2800" dirty="0"/>
            </a:br>
            <a:r>
              <a:rPr lang="en-US" sz="2800" dirty="0"/>
              <a:t>Threads may update any entry.</a:t>
            </a:r>
          </a:p>
          <a:p>
            <a:r>
              <a:rPr lang="en-US" sz="2800" dirty="0"/>
              <a:t>Better approach:</a:t>
            </a:r>
            <a:br>
              <a:rPr lang="en-US" sz="2800" dirty="0"/>
            </a:br>
            <a:r>
              <a:rPr lang="en-US" sz="2800" dirty="0"/>
              <a:t>Use private </a:t>
            </a:r>
            <a:r>
              <a:rPr lang="en-US" sz="2800" dirty="0" err="1"/>
              <a:t>C_local</a:t>
            </a:r>
            <a:r>
              <a:rPr lang="en-US" sz="2800" dirty="0"/>
              <a:t> → reduce at end.</a:t>
            </a:r>
          </a:p>
          <a:p>
            <a:r>
              <a:rPr lang="en-US" sz="2800" dirty="0"/>
              <a:t>Move synchronization outside inner loop.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5354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E3118-19A4-83AA-4BA9-D37E35B8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BBFA-AC6C-12DD-4411-58512CF7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Message Passing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6614-7A2E-B1F8-18F8-830CF8D5F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Setup:</a:t>
            </a:r>
          </a:p>
          <a:p>
            <a:r>
              <a:rPr lang="en-US" sz="2800" dirty="0"/>
              <a:t>n processors in 1-D wraparound mesh.</a:t>
            </a:r>
            <a:br>
              <a:rPr lang="en-US" sz="2800" dirty="0"/>
            </a:br>
            <a:r>
              <a:rPr lang="en-US" sz="2800" dirty="0"/>
              <a:t>Each has row </a:t>
            </a:r>
            <a:r>
              <a:rPr lang="en-US" sz="2800" dirty="0" err="1"/>
              <a:t>i</a:t>
            </a:r>
            <a:r>
              <a:rPr lang="en-US" sz="2800" dirty="0"/>
              <a:t> of A and B.</a:t>
            </a:r>
            <a:br>
              <a:rPr lang="en-US" sz="2800" dirty="0"/>
            </a:br>
            <a:r>
              <a:rPr lang="en-US" sz="2800" dirty="0"/>
              <a:t>Goal: Compute row </a:t>
            </a:r>
            <a:r>
              <a:rPr lang="en-US" sz="2800" dirty="0" err="1"/>
              <a:t>i</a:t>
            </a:r>
            <a:r>
              <a:rPr lang="en-US" sz="2800" dirty="0"/>
              <a:t> of C.</a:t>
            </a:r>
          </a:p>
          <a:p>
            <a:r>
              <a:rPr lang="en-US" sz="2800" dirty="0"/>
              <a:t>Blocking send/receive.</a:t>
            </a:r>
            <a:br>
              <a:rPr lang="en-US" sz="2800" dirty="0"/>
            </a:br>
            <a:r>
              <a:rPr lang="en-US" sz="2800" dirty="0"/>
              <a:t>No broadcast.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72213-FEF7-8780-1266-469E3F62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113" y="1422781"/>
            <a:ext cx="4800600" cy="427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21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64CD-3EBB-9748-AADE-A74C6851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F4496-8FF0-B510-3E2C-7EFDDD13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Message Passing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5D34-F609-3437-2710-EE43CAE5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Rotate rows of B around ring.</a:t>
            </a:r>
            <a:br>
              <a:rPr lang="en-US" sz="2800" dirty="0"/>
            </a:br>
            <a:r>
              <a:rPr lang="en-US" sz="2800" dirty="0"/>
              <a:t>At each step:</a:t>
            </a:r>
          </a:p>
          <a:p>
            <a:r>
              <a:rPr lang="en-US" sz="2800" dirty="0"/>
              <a:t>Multiply local A with current B row</a:t>
            </a:r>
          </a:p>
          <a:p>
            <a:r>
              <a:rPr lang="en-US" sz="2800" dirty="0"/>
              <a:t>Accumulate partial result</a:t>
            </a:r>
          </a:p>
          <a:p>
            <a:r>
              <a:rPr lang="en-US" sz="2800" dirty="0"/>
              <a:t>After n rotations → full row computed.</a:t>
            </a:r>
          </a:p>
        </p:txBody>
      </p:sp>
    </p:spTree>
    <p:extLst>
      <p:ext uri="{BB962C8B-B14F-4D97-AF65-F5344CB8AC3E}">
        <p14:creationId xmlns:p14="http://schemas.microsoft.com/office/powerpoint/2010/main" val="2098516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CD0E-5551-FADB-A13E-B92FB426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D4F7-EDE4-970B-4200-C913E086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Message Passing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30F8-718D-9F11-4A67-7D86855FF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Total communication: </a:t>
            </a:r>
            <a:r>
              <a:rPr lang="el-GR" sz="2800" dirty="0"/>
              <a:t>Θ(</a:t>
            </a:r>
            <a:r>
              <a:rPr lang="en-US" sz="2800" dirty="0"/>
              <a:t>n²)</a:t>
            </a:r>
            <a:br>
              <a:rPr lang="en-US" sz="2800" dirty="0"/>
            </a:br>
            <a:r>
              <a:rPr lang="en-US" sz="2800" dirty="0"/>
              <a:t>Total computation: </a:t>
            </a:r>
            <a:r>
              <a:rPr lang="el-GR" sz="2800" dirty="0"/>
              <a:t>Θ(</a:t>
            </a:r>
            <a:r>
              <a:rPr lang="en-US" sz="2800" dirty="0"/>
              <a:t>n² / n) = </a:t>
            </a:r>
            <a:r>
              <a:rPr lang="el-GR" sz="2800" dirty="0"/>
              <a:t>Θ(</a:t>
            </a:r>
            <a:r>
              <a:rPr lang="en-US" sz="2800" dirty="0"/>
              <a:t>n)</a:t>
            </a:r>
          </a:p>
          <a:p>
            <a:r>
              <a:rPr lang="en-US" sz="2800" dirty="0"/>
              <a:t>Communication dominates.</a:t>
            </a:r>
            <a:br>
              <a:rPr lang="en-US" sz="2800" dirty="0"/>
            </a:br>
            <a:r>
              <a:rPr lang="en-US" sz="2800" dirty="0"/>
              <a:t>System is communication-bound.</a:t>
            </a:r>
          </a:p>
          <a:p>
            <a:r>
              <a:rPr lang="en-US" sz="2800" dirty="0"/>
              <a:t>Ring is synchronous, so bottleneck is slowest processor in the ring</a:t>
            </a:r>
          </a:p>
        </p:txBody>
      </p:sp>
    </p:spTree>
    <p:extLst>
      <p:ext uri="{BB962C8B-B14F-4D97-AF65-F5344CB8AC3E}">
        <p14:creationId xmlns:p14="http://schemas.microsoft.com/office/powerpoint/2010/main" val="601260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DFE6-1F74-1B3E-E08F-F19038D9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56E9-E760-34B6-DF31-3F6088FA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Hypercube Network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A746-0141-1B44-F266-4CB096ABA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10642600" cy="5162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16-Node Hypercube</a:t>
            </a:r>
          </a:p>
          <a:p>
            <a:r>
              <a:rPr lang="en-US" sz="2800" dirty="0"/>
              <a:t>16 = 2⁴ → 4-dimensional</a:t>
            </a:r>
          </a:p>
          <a:p>
            <a:r>
              <a:rPr lang="en-US" sz="2800" dirty="0"/>
              <a:t>Diameter = 4</a:t>
            </a:r>
          </a:p>
          <a:p>
            <a:r>
              <a:rPr lang="en-US" sz="2800" dirty="0"/>
              <a:t>Degree = 4</a:t>
            </a:r>
          </a:p>
          <a:p>
            <a:r>
              <a:rPr lang="en-US" sz="2800" dirty="0"/>
              <a:t>Bisection width = 8</a:t>
            </a:r>
          </a:p>
          <a:p>
            <a:endParaRPr lang="en-US" sz="2800" dirty="0"/>
          </a:p>
          <a:p>
            <a:r>
              <a:rPr lang="en-US" sz="2800" b="1" dirty="0"/>
              <a:t>More Generally</a:t>
            </a:r>
          </a:p>
          <a:p>
            <a:r>
              <a:rPr lang="en-US" sz="2800" dirty="0"/>
              <a:t>Diameter = N</a:t>
            </a:r>
          </a:p>
          <a:p>
            <a:r>
              <a:rPr lang="en-US" sz="2800" dirty="0"/>
              <a:t>Edges = (2ᴺ · N)/2</a:t>
            </a:r>
          </a:p>
          <a:p>
            <a:r>
              <a:rPr lang="en-US" sz="2800" dirty="0"/>
              <a:t>Bisection width = 2ᴺ⁻¹</a:t>
            </a:r>
          </a:p>
          <a:p>
            <a:r>
              <a:rPr lang="en-US" sz="2800" dirty="0"/>
              <a:t>Cut along one dimension → splits network evenly.</a:t>
            </a:r>
          </a:p>
          <a:p>
            <a:endParaRPr lang="en-US" sz="2800" b="1" dirty="0"/>
          </a:p>
        </p:txBody>
      </p:sp>
      <p:pic>
        <p:nvPicPr>
          <p:cNvPr id="5122" name="Picture 2" descr="The hypercube architecture different ...">
            <a:extLst>
              <a:ext uri="{FF2B5EF4-FFF2-40B4-BE49-F238E27FC236}">
                <a16:creationId xmlns:a16="http://schemas.microsoft.com/office/drawing/2014/main" id="{82575F62-A1BF-F733-C465-6D9F494DE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429" y="1128080"/>
            <a:ext cx="6913987" cy="321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158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BF85-DC76-5566-9BAE-1F8800C4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E29A-02A8-0454-77AB-F9A775B0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Hypercube Network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4F15-65D9-EB41-1812-9853DF466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5864225" cy="51623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b="1" dirty="0"/>
              <a:t>E-Cube Routing Hint</a:t>
            </a:r>
          </a:p>
          <a:p>
            <a:r>
              <a:rPr lang="en-US" sz="2800" dirty="0"/>
              <a:t>Fix bits in ascending order.</a:t>
            </a:r>
            <a:br>
              <a:rPr lang="en-US" sz="2800" dirty="0"/>
            </a:br>
            <a:r>
              <a:rPr lang="en-US" sz="2800" dirty="0"/>
              <a:t>Path length = Hamming distance.</a:t>
            </a:r>
          </a:p>
          <a:p>
            <a:r>
              <a:rPr lang="en-US" sz="2800" dirty="0"/>
              <a:t>Each differing bit represents one dimension you must traverse.</a:t>
            </a:r>
          </a:p>
          <a:p>
            <a:r>
              <a:rPr lang="en-US" sz="2800" dirty="0"/>
              <a:t>Flipping that bit moves you closer to destination.</a:t>
            </a:r>
          </a:p>
          <a:p>
            <a:endParaRPr lang="ar-AE" sz="2800" dirty="0"/>
          </a:p>
          <a:p>
            <a:r>
              <a:rPr lang="en-US" sz="2800" dirty="0"/>
              <a:t>Permutation causes many paths to share early dimensions.</a:t>
            </a:r>
          </a:p>
          <a:p>
            <a:r>
              <a:rPr lang="en-US" sz="2800" dirty="0"/>
              <a:t>Congestion occurs on lowest-numbered dimensions.</a:t>
            </a:r>
          </a:p>
        </p:txBody>
      </p:sp>
      <p:pic>
        <p:nvPicPr>
          <p:cNvPr id="4" name="Picture 2" descr="The hypercube architecture different ...">
            <a:extLst>
              <a:ext uri="{FF2B5EF4-FFF2-40B4-BE49-F238E27FC236}">
                <a16:creationId xmlns:a16="http://schemas.microsoft.com/office/drawing/2014/main" id="{A05605D5-E3A9-24FB-BC63-15775B439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600200"/>
            <a:ext cx="5930858" cy="275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202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FEF4C-5A40-F055-85B1-FCC0DFF6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C8D4-C9C0-24FA-2A59-CBBCE85B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Windmill Embedding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A713-0528-7EDF-B354-921F400F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10642600" cy="5162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Windmill Structure</a:t>
            </a:r>
          </a:p>
          <a:p>
            <a:r>
              <a:rPr lang="en-US" sz="2800" dirty="0"/>
              <a:t>n = 2m + 1</a:t>
            </a:r>
            <a:br>
              <a:rPr lang="en-US" sz="2800" dirty="0"/>
            </a:br>
            <a:r>
              <a:rPr lang="en-US" sz="2800" dirty="0"/>
              <a:t>Node 0 is hub.</a:t>
            </a:r>
            <a:br>
              <a:rPr lang="en-US" sz="2800" dirty="0"/>
            </a:br>
            <a:r>
              <a:rPr lang="en-US" sz="2800" dirty="0"/>
              <a:t>Others form small paired edges.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074" name="Picture 2" descr="Group 12993, Grouped object">
            <a:extLst>
              <a:ext uri="{FF2B5EF4-FFF2-40B4-BE49-F238E27FC236}">
                <a16:creationId xmlns:a16="http://schemas.microsoft.com/office/drawing/2014/main" id="{E7ECB26E-44C5-7634-A077-5A1854FE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489" y="1371600"/>
            <a:ext cx="5769216" cy="361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093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9CC00-4AED-CFEC-2D7C-CCB079E7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8543-FEE4-E9BC-3C7E-2BC297AE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Star Embedding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4F9C3-3677-02F0-1926-49A65B287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10642600" cy="5162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Embedding into Star</a:t>
            </a:r>
          </a:p>
          <a:p>
            <a:r>
              <a:rPr lang="en-US" sz="2800" dirty="0"/>
              <a:t>Non-center edges → path length 2.</a:t>
            </a:r>
          </a:p>
          <a:p>
            <a:r>
              <a:rPr lang="en-US" sz="2800" dirty="0"/>
              <a:t>Dilation = 2</a:t>
            </a:r>
          </a:p>
          <a:p>
            <a:r>
              <a:rPr lang="en-US" sz="2800" dirty="0"/>
              <a:t>Congestion high at center</a:t>
            </a:r>
          </a:p>
          <a:p>
            <a:r>
              <a:rPr lang="en-US" sz="2800" dirty="0"/>
              <a:t>Center edge carries most traffic.</a:t>
            </a:r>
          </a:p>
        </p:txBody>
      </p:sp>
      <p:pic>
        <p:nvPicPr>
          <p:cNvPr id="2050" name="Picture 2" descr="Group 12993, Grouped object">
            <a:extLst>
              <a:ext uri="{FF2B5EF4-FFF2-40B4-BE49-F238E27FC236}">
                <a16:creationId xmlns:a16="http://schemas.microsoft.com/office/drawing/2014/main" id="{201372D5-A41B-0A05-BE98-989AC76F8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908050"/>
            <a:ext cx="3998826" cy="250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6FEA5D4-C176-5701-0B17-9C77632DF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635188"/>
            <a:ext cx="3048000" cy="268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164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C72AE-A884-31C0-AFA2-AD2D34C9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080D-6030-4545-5453-54344BCD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Star Embedding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8806-35A9-D512-546E-F7D7DC5D9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162240"/>
            <a:ext cx="10642600" cy="5162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Embedding into Binary Tree</a:t>
            </a:r>
          </a:p>
          <a:p>
            <a:r>
              <a:rPr lang="en-US" sz="2800" dirty="0"/>
              <a:t>Tree height ≈ log n</a:t>
            </a:r>
          </a:p>
          <a:p>
            <a:r>
              <a:rPr lang="en-US" sz="2800" dirty="0"/>
              <a:t>Dilation ≈ 2 log n</a:t>
            </a:r>
          </a:p>
          <a:p>
            <a:r>
              <a:rPr lang="en-US" sz="2800" dirty="0"/>
              <a:t>Congestion highest near root</a:t>
            </a:r>
          </a:p>
          <a:p>
            <a:r>
              <a:rPr lang="en-US" sz="2800" dirty="0"/>
              <a:t>Upper levels become bottleneck.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67F42E-B7B4-B659-EEB1-DB831C12B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82440"/>
            <a:ext cx="2514600" cy="229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oup 12562, Grouped object">
            <a:extLst>
              <a:ext uri="{FF2B5EF4-FFF2-40B4-BE49-F238E27FC236}">
                <a16:creationId xmlns:a16="http://schemas.microsoft.com/office/drawing/2014/main" id="{AA3AC4DC-B595-DE1B-5E1C-2926DDEF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770" y="3297561"/>
            <a:ext cx="4461255" cy="255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91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1" spc="-10">
                <a:solidFill>
                  <a:srgbClr val="C00000"/>
                </a:solidFill>
                <a:latin typeface="Calibri"/>
                <a:cs typeface="Calibri"/>
              </a:rPr>
              <a:t>Questions?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6525" y="3237864"/>
            <a:ext cx="199643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>
                <a:solidFill>
                  <a:srgbClr val="C00000"/>
                </a:solidFill>
                <a:latin typeface="Calibri"/>
                <a:cs typeface="Calibri"/>
              </a:rPr>
              <a:t>Thank</a:t>
            </a:r>
            <a:r>
              <a:rPr sz="3600" b="1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25">
                <a:solidFill>
                  <a:srgbClr val="C00000"/>
                </a:solidFill>
                <a:latin typeface="Calibri"/>
                <a:cs typeface="Calibri"/>
              </a:rPr>
              <a:t>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64469a-dbdb-4a8b-b6fa-fafa8a68bc5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3305043ED2BE4ABB2CC5860758F198" ma:contentTypeVersion="9" ma:contentTypeDescription="Create a new document." ma:contentTypeScope="" ma:versionID="b1a02b3560fb58d36553e7d5dad61af5">
  <xsd:schema xmlns:xsd="http://www.w3.org/2001/XMLSchema" xmlns:xs="http://www.w3.org/2001/XMLSchema" xmlns:p="http://schemas.microsoft.com/office/2006/metadata/properties" xmlns:ns3="c064469a-dbdb-4a8b-b6fa-fafa8a68bc59" targetNamespace="http://schemas.microsoft.com/office/2006/metadata/properties" ma:root="true" ma:fieldsID="38ca05c1d5aa034e47f8838cf8625b58" ns3:_="">
    <xsd:import namespace="c064469a-dbdb-4a8b-b6fa-fafa8a68bc5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4469a-dbdb-4a8b-b6fa-fafa8a68bc5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97C96A-ED7C-4CF4-A126-F4110C19DE2D}">
  <ds:schemaRefs>
    <ds:schemaRef ds:uri="http://schemas.microsoft.com/office/2006/metadata/properties"/>
    <ds:schemaRef ds:uri="http://www.w3.org/2000/xmlns/"/>
    <ds:schemaRef ds:uri="c064469a-dbdb-4a8b-b6fa-fafa8a68bc59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75D2D5D1-7C3E-4853-B8A8-1453819213A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064469a-dbdb-4a8b-b6fa-fafa8a68bc59"/>
  </ds:schemaRefs>
</ds:datastoreItem>
</file>

<file path=customXml/itemProps3.xml><?xml version="1.0" encoding="utf-8"?>
<ds:datastoreItem xmlns:ds="http://schemas.openxmlformats.org/officeDocument/2006/customXml" ds:itemID="{BF830804-4C5B-4852-B4ED-E56F351D12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EE/CSCI 451 Introduction to Parallel and Distributed Computation</vt:lpstr>
      <vt:lpstr>Announcements</vt:lpstr>
      <vt:lpstr>Course Project (1)</vt:lpstr>
      <vt:lpstr>Course Project (2)</vt:lpstr>
      <vt:lpstr>Course Project (3)</vt:lpstr>
      <vt:lpstr>Course Project (4)</vt:lpstr>
      <vt:lpstr>Course Project (5)</vt:lpstr>
      <vt:lpstr>Example: Research, Implement, Evaluate</vt:lpstr>
      <vt:lpstr>Example: Research, Implement, Evaluate</vt:lpstr>
      <vt:lpstr>Example: Implement, Evaluate</vt:lpstr>
      <vt:lpstr>Example: Implement, Evaluate</vt:lpstr>
      <vt:lpstr>Example: Application Implementation</vt:lpstr>
      <vt:lpstr>More Examples</vt:lpstr>
      <vt:lpstr>Good Projects</vt:lpstr>
      <vt:lpstr>Common Mistakes</vt:lpstr>
      <vt:lpstr>Frequently Asked Questions</vt:lpstr>
      <vt:lpstr>Course Project (6)</vt:lpstr>
      <vt:lpstr>Programming Platforms</vt:lpstr>
      <vt:lpstr>The clock is ticking…</vt:lpstr>
      <vt:lpstr>Find your teammate</vt:lpstr>
      <vt:lpstr>Neural Processing Unit (NPU)</vt:lpstr>
      <vt:lpstr>Cerebras CS2: Cluster-on-Chip</vt:lpstr>
      <vt:lpstr>Intel AI PC</vt:lpstr>
      <vt:lpstr>Resources</vt:lpstr>
      <vt:lpstr>Parallelize Convolutional Neural Network</vt:lpstr>
      <vt:lpstr>Parallelize Convolutional Neural Network: loop parallelism</vt:lpstr>
      <vt:lpstr>Parallelize Convolutional Neural Network: task parallelism</vt:lpstr>
      <vt:lpstr>System Performance Evaluation</vt:lpstr>
      <vt:lpstr>Compute vs. Memory Capacity</vt:lpstr>
      <vt:lpstr>Streaming vs. Non-streaming</vt:lpstr>
      <vt:lpstr>Arithmetic Intensity (AI)</vt:lpstr>
      <vt:lpstr>The Roofline Model</vt:lpstr>
      <vt:lpstr>The Impact of Cache &amp; Data Reuse</vt:lpstr>
      <vt:lpstr>Shared Memory Programming (1)</vt:lpstr>
      <vt:lpstr>Shared Memory Programming (2)</vt:lpstr>
      <vt:lpstr>Shared Memory Programming (3)</vt:lpstr>
      <vt:lpstr>Shared Memory Programming (4)</vt:lpstr>
      <vt:lpstr>Message Passing</vt:lpstr>
      <vt:lpstr>Message Passing (2)</vt:lpstr>
      <vt:lpstr>Message Passing (3)</vt:lpstr>
      <vt:lpstr>Hypercube Network (1)</vt:lpstr>
      <vt:lpstr>Hypercube Network (2)</vt:lpstr>
      <vt:lpstr>Windmill Embedding </vt:lpstr>
      <vt:lpstr>Star Embedding </vt:lpstr>
      <vt:lpstr>Star Embedding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EE/CSCI 451 Introduction to Parallel and Distributed Computation</dc:title>
  <cp:lastModifiedBy>Anvitha Ramachandran</cp:lastModifiedBy>
  <cp:revision>2</cp:revision>
  <dcterms:created xsi:type="dcterms:W3CDTF">2026-03-06T06:05:20Z</dcterms:created>
  <dcterms:modified xsi:type="dcterms:W3CDTF">2026-03-09T06:31:06Z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2024-10-08T00:00:00Z</vt:filetime>
  </property>
  <property fmtid="{D5CDD505-2E9C-101B-9397-08002B2CF9AE}" pid="3" name="LastSaved">
    <vt:filetime>2026-03-06T00:00:00Z</vt:filetime>
  </property>
  <property fmtid="{D5CDD505-2E9C-101B-9397-08002B2CF9AE}" pid="4" name="ContentTypeId">
    <vt:lpwstr>0x010100023305043ED2BE4ABB2CC5860758F198</vt:lpwstr>
  </property>
</Properties>
</file>